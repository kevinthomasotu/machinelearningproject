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Validation Macro F1</c:v>
                </c:pt>
              </c:strCache>
            </c:strRef>
          </c:tx>
          <c:spPr>
            <a:solidFill>
              <a:srgbClr val="9AA9BA"/>
            </a:solidFill>
            <a:effectLst/>
          </c:spPr>
          <c:invertIfNegative val="0"/>
          <c:dLbls>
            <c:numFmt formatCode="0.000" sourceLinked="0"/>
            <c:txPr>
              <a:bodyPr/>
              <a:lstStyle/>
              <a:p>
                <a:pPr>
                  <a:defRPr b="0" i="0" strike="noStrike" sz="1100" u="none">
                    <a:solidFill>
                      <a:srgbClr val="111111"/>
                    </a:solidFill>
                    <a:latin typeface="Arial"/>
                  </a:defRPr>
                </a:pPr>
              </a:p>
            </c:txPr>
            <c:showLegendKey val="0"/>
            <c:showVal val="1"/>
            <c:showCatName val="0"/>
            <c:showSerName val="0"/>
            <c:showPercent val="0"/>
            <c:showBubbleSize val="0"/>
            <c:showLeaderLines val="0"/>
          </c:dLbls>
          <c:dPt>
            <c:idx val="0"/>
            <c:invertIfNegative val="0"/>
            <c:bubble3D val="0"/>
            <c:spPr>
              <a:solidFill>
                <a:srgbClr val="9AA9BA"/>
              </a:solidFill>
              <a:effectLst/>
            </c:spPr>
          </c:dPt>
          <c:dPt>
            <c:idx val="1"/>
            <c:invertIfNegative val="0"/>
            <c:bubble3D val="0"/>
            <c:spPr>
              <a:solidFill>
                <a:srgbClr val="9AA9BA"/>
              </a:solidFill>
              <a:effectLst/>
            </c:spPr>
          </c:dPt>
          <c:dPt>
            <c:idx val="2"/>
            <c:invertIfNegative val="0"/>
            <c:bubble3D val="0"/>
            <c:spPr>
              <a:solidFill>
                <a:srgbClr val="1B7F8C"/>
              </a:solidFill>
              <a:effectLst/>
            </c:spPr>
          </c:dPt>
          <c:dPt>
            <c:idx val="3"/>
            <c:invertIfNegative val="0"/>
            <c:bubble3D val="0"/>
            <c:spPr>
              <a:solidFill>
                <a:srgbClr val="1F3A5F"/>
              </a:solidFill>
              <a:effectLst/>
            </c:spPr>
          </c:dPt>
          <c:dPt>
            <c:idx val="4"/>
            <c:invertIfNegative val="0"/>
            <c:bubble3D val="0"/>
            <c:spPr>
              <a:solidFill>
                <a:srgbClr val="C0392B"/>
              </a:solidFill>
              <a:effectLst/>
            </c:spPr>
          </c:dPt>
          <c:dPt>
            <c:idx val="5"/>
            <c:invertIfNegative val="0"/>
            <c:bubble3D val="0"/>
            <c:spPr>
              <a:solidFill>
                <a:srgbClr val="C0392B"/>
              </a:solidFill>
              <a:effectLst/>
            </c:spPr>
          </c:dPt>
          <c:cat>
            <c:multiLvlStrRef>
              <c:f>Sheet1!$A$2:$A$7</c:f>
              <c:multiLvlStrCache>
                <c:ptCount val="6"/>
                <c:lvl>
                  <c:pt idx="0">
                    <c:v>Majority class</c:v>
                  </c:pt>
                  <c:pt idx="1">
                    <c:v>Stratified random</c:v>
                  </c:pt>
                  <c:pt idx="2">
                    <c:v>k-NN (cosine, k=15)</c:v>
                  </c:pt>
                  <c:pt idx="3">
                    <c:v>Naive Bayes (M3)</c:v>
                  </c:pt>
                  <c:pt idx="4">
                    <c:v>Logistic Reg. C=1</c:v>
                  </c:pt>
                  <c:pt idx="5">
                    <c:v>Logistic Reg. C=10</c:v>
                  </c:pt>
                </c:lvl>
              </c:multiLvlStrCache>
            </c:multiLvlStrRef>
          </c:cat>
          <c:val>
            <c:numRef>
              <c:f>Sheet1!$B$2:$B$7</c:f>
              <c:numCache>
                <c:formatCode>General</c:formatCode>
                <c:ptCount val="6"/>
                <c:pt idx="0">
                  <c:v>0.062</c:v>
                </c:pt>
                <c:pt idx="1">
                  <c:v>0.092</c:v>
                </c:pt>
                <c:pt idx="2">
                  <c:v>0.622</c:v>
                </c:pt>
                <c:pt idx="3">
                  <c:v>0.623</c:v>
                </c:pt>
                <c:pt idx="4">
                  <c:v>0.681</c:v>
                </c:pt>
                <c:pt idx="5">
                  <c:v>0.682</c:v>
                </c:pt>
              </c:numCache>
            </c:numRef>
          </c:val>
        </c:ser>
        <c:dLbls>
          <c:numFmt formatCode="0.000" sourceLinked="0"/>
          <c:txPr>
            <a:bodyPr/>
            <a:lstStyle/>
            <a:p>
              <a:pPr>
                <a:defRPr b="0" i="0" strike="noStrike" sz="1100" u="none">
                  <a:solidFill>
                    <a:srgbClr val="111111"/>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0.8"/>
          <c:min val="0"/>
        </c:scaling>
        <c:delete val="0"/>
        <c:axPos val="b"/>
        <c:majorGridlines>
          <c:spPr>
            <a:ln w="6350" cap="flat">
              <a:solidFill>
                <a:srgbClr val="DDDDDD"/>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Naive Bayes</c:v>
                </c:pt>
              </c:strCache>
            </c:strRef>
          </c:tx>
          <c:spPr>
            <a:solidFill>
              <a:srgbClr val="1F3A5F"/>
            </a:solidFill>
            <a:effectLst/>
          </c:spPr>
          <c:invertIfNegative val="0"/>
          <c:dLbls>
            <c:numFmt formatCode="#,##0" sourceLinked="0"/>
            <c:txPr>
              <a:bodyPr/>
              <a:lstStyle/>
              <a:p>
                <a:pPr>
                  <a:defRPr b="0" i="0" strike="noStrike" sz="1100" u="none">
                    <a:solidFill>
                      <a:srgbClr val="111111"/>
                    </a:solidFill>
                    <a:latin typeface="Arial"/>
                  </a:defRPr>
                </a:pPr>
              </a:p>
            </c:txPr>
            <c:showLegendKey val="0"/>
            <c:showVal val="0"/>
            <c:showCatName val="0"/>
            <c:showSerName val="0"/>
            <c:showPercent val="0"/>
            <c:showBubbleSize val="0"/>
            <c:showLeaderLines val="0"/>
          </c:dLbls>
          <c:cat>
            <c:multiLvlStrRef>
              <c:f>Sheet1!$A$2:$A$12</c:f>
              <c:multiLvlStrCache>
                <c:ptCount val="11"/>
                <c:lvl>
                  <c:pt idx="0">
                    <c:v>Credit reporting</c:v>
                  </c:pt>
                  <c:pt idx="1">
                    <c:v>Debt collection</c:v>
                  </c:pt>
                  <c:pt idx="2">
                    <c:v>Credit card</c:v>
                  </c:pt>
                  <c:pt idx="3">
                    <c:v>Checking/savings</c:v>
                  </c:pt>
                  <c:pt idx="4">
                    <c:v>Mortgage</c:v>
                  </c:pt>
                  <c:pt idx="5">
                    <c:v>Money transfer</c:v>
                  </c:pt>
                  <c:pt idx="6">
                    <c:v>Student loan</c:v>
                  </c:pt>
                  <c:pt idx="7">
                    <c:v>Vehicle loan</c:v>
                  </c:pt>
                  <c:pt idx="8">
                    <c:v>Payday loan</c:v>
                  </c:pt>
                  <c:pt idx="9">
                    <c:v>Prepaid card</c:v>
                  </c:pt>
                  <c:pt idx="10">
                    <c:v>Debt/credit mgmt</c:v>
                  </c:pt>
                </c:lvl>
              </c:multiLvlStrCache>
            </c:multiLvlStrRef>
          </c:cat>
          <c:val>
            <c:numRef>
              <c:f>Sheet1!$B$2:$B$12</c:f>
              <c:numCache>
                <c:formatCode>General</c:formatCode>
                <c:ptCount val="11"/>
                <c:pt idx="0">
                  <c:v>0.857</c:v>
                </c:pt>
                <c:pt idx="1">
                  <c:v>0.703</c:v>
                </c:pt>
                <c:pt idx="2">
                  <c:v>0.72</c:v>
                </c:pt>
                <c:pt idx="3">
                  <c:v>0.894</c:v>
                </c:pt>
                <c:pt idx="4">
                  <c:v>0.878</c:v>
                </c:pt>
                <c:pt idx="5">
                  <c:v>0.405</c:v>
                </c:pt>
                <c:pt idx="6">
                  <c:v>0.832</c:v>
                </c:pt>
                <c:pt idx="7">
                  <c:v>0.577</c:v>
                </c:pt>
                <c:pt idx="8">
                  <c:v>0.279</c:v>
                </c:pt>
                <c:pt idx="9">
                  <c:v>0.446</c:v>
                </c:pt>
                <c:pt idx="10">
                  <c:v>0.029</c:v>
                </c:pt>
              </c:numCache>
            </c:numRef>
          </c:val>
        </c:ser>
        <c:ser>
          <c:idx val="1"/>
          <c:order val="1"/>
          <c:tx>
            <c:strRef>
              <c:f>Sheet1!$C$1</c:f>
              <c:strCache>
                <c:ptCount val="1"/>
                <c:pt idx="0">
                  <c:v>Logistic Reg. (C=10)</c:v>
                </c:pt>
              </c:strCache>
            </c:strRef>
          </c:tx>
          <c:spPr>
            <a:solidFill>
              <a:srgbClr val="C0392B"/>
            </a:solidFill>
            <a:effectLst/>
          </c:spPr>
          <c:invertIfNegative val="0"/>
          <c:dLbls>
            <c:numFmt formatCode="#,##0" sourceLinked="0"/>
            <c:txPr>
              <a:bodyPr/>
              <a:lstStyle/>
              <a:p>
                <a:pPr>
                  <a:defRPr b="0" i="0" strike="noStrike" sz="1100" u="none">
                    <a:solidFill>
                      <a:srgbClr val="111111"/>
                    </a:solidFill>
                    <a:latin typeface="Arial"/>
                  </a:defRPr>
                </a:pPr>
              </a:p>
            </c:txPr>
            <c:showLegendKey val="0"/>
            <c:showVal val="0"/>
            <c:showCatName val="0"/>
            <c:showSerName val="0"/>
            <c:showPercent val="0"/>
            <c:showBubbleSize val="0"/>
            <c:showLeaderLines val="0"/>
          </c:dLbls>
          <c:cat>
            <c:multiLvlStrRef>
              <c:f>Sheet1!$A$2:$A$12</c:f>
              <c:multiLvlStrCache>
                <c:ptCount val="11"/>
                <c:lvl>
                  <c:pt idx="0">
                    <c:v>Credit reporting</c:v>
                  </c:pt>
                  <c:pt idx="1">
                    <c:v>Debt collection</c:v>
                  </c:pt>
                  <c:pt idx="2">
                    <c:v>Credit card</c:v>
                  </c:pt>
                  <c:pt idx="3">
                    <c:v>Checking/savings</c:v>
                  </c:pt>
                  <c:pt idx="4">
                    <c:v>Mortgage</c:v>
                  </c:pt>
                  <c:pt idx="5">
                    <c:v>Money transfer</c:v>
                  </c:pt>
                  <c:pt idx="6">
                    <c:v>Student loan</c:v>
                  </c:pt>
                  <c:pt idx="7">
                    <c:v>Vehicle loan</c:v>
                  </c:pt>
                  <c:pt idx="8">
                    <c:v>Payday loan</c:v>
                  </c:pt>
                  <c:pt idx="9">
                    <c:v>Prepaid card</c:v>
                  </c:pt>
                  <c:pt idx="10">
                    <c:v>Debt/credit mgmt</c:v>
                  </c:pt>
                </c:lvl>
              </c:multiLvlStrCache>
            </c:multiLvlStrRef>
          </c:cat>
          <c:val>
            <c:numRef>
              <c:f>Sheet1!$C$2:$C$12</c:f>
              <c:numCache>
                <c:formatCode>General</c:formatCode>
                <c:ptCount val="11"/>
                <c:pt idx="0">
                  <c:v>0.927</c:v>
                </c:pt>
                <c:pt idx="1">
                  <c:v>0.709</c:v>
                </c:pt>
                <c:pt idx="2">
                  <c:v>0.748</c:v>
                </c:pt>
                <c:pt idx="3">
                  <c:v>0.839</c:v>
                </c:pt>
                <c:pt idx="4">
                  <c:v>0.847</c:v>
                </c:pt>
                <c:pt idx="5">
                  <c:v>0.615</c:v>
                </c:pt>
                <c:pt idx="6">
                  <c:v>0.837</c:v>
                </c:pt>
                <c:pt idx="7">
                  <c:v>0.6</c:v>
                </c:pt>
                <c:pt idx="8">
                  <c:v>0.4</c:v>
                </c:pt>
                <c:pt idx="9">
                  <c:v>0.542</c:v>
                </c:pt>
                <c:pt idx="10">
                  <c:v>0.087</c:v>
                </c:pt>
              </c:numCache>
            </c:numRef>
          </c:val>
        </c:ser>
        <c:ser>
          <c:idx val="2"/>
          <c:order val="2"/>
          <c:tx>
            <c:strRef>
              <c:f>Sheet1!$D$1</c:f>
              <c:strCache>
                <c:ptCount val="1"/>
                <c:pt idx="0">
                  <c:v>k-NN (cosine)</c:v>
                </c:pt>
              </c:strCache>
            </c:strRef>
          </c:tx>
          <c:spPr>
            <a:solidFill>
              <a:srgbClr val="1B7F8C"/>
            </a:solidFill>
            <a:effectLst/>
          </c:spPr>
          <c:invertIfNegative val="0"/>
          <c:dLbls>
            <c:numFmt formatCode="#,##0" sourceLinked="0"/>
            <c:txPr>
              <a:bodyPr/>
              <a:lstStyle/>
              <a:p>
                <a:pPr>
                  <a:defRPr b="0" i="0" strike="noStrike" sz="1100" u="none">
                    <a:solidFill>
                      <a:srgbClr val="111111"/>
                    </a:solidFill>
                    <a:latin typeface="Arial"/>
                  </a:defRPr>
                </a:pPr>
              </a:p>
            </c:txPr>
            <c:showLegendKey val="0"/>
            <c:showVal val="0"/>
            <c:showCatName val="0"/>
            <c:showSerName val="0"/>
            <c:showPercent val="0"/>
            <c:showBubbleSize val="0"/>
            <c:showLeaderLines val="0"/>
          </c:dLbls>
          <c:cat>
            <c:multiLvlStrRef>
              <c:f>Sheet1!$A$2:$A$12</c:f>
              <c:multiLvlStrCache>
                <c:ptCount val="11"/>
                <c:lvl>
                  <c:pt idx="0">
                    <c:v>Credit reporting</c:v>
                  </c:pt>
                  <c:pt idx="1">
                    <c:v>Debt collection</c:v>
                  </c:pt>
                  <c:pt idx="2">
                    <c:v>Credit card</c:v>
                  </c:pt>
                  <c:pt idx="3">
                    <c:v>Checking/savings</c:v>
                  </c:pt>
                  <c:pt idx="4">
                    <c:v>Mortgage</c:v>
                  </c:pt>
                  <c:pt idx="5">
                    <c:v>Money transfer</c:v>
                  </c:pt>
                  <c:pt idx="6">
                    <c:v>Student loan</c:v>
                  </c:pt>
                  <c:pt idx="7">
                    <c:v>Vehicle loan</c:v>
                  </c:pt>
                  <c:pt idx="8">
                    <c:v>Payday loan</c:v>
                  </c:pt>
                  <c:pt idx="9">
                    <c:v>Prepaid card</c:v>
                  </c:pt>
                  <c:pt idx="10">
                    <c:v>Debt/credit mgmt</c:v>
                  </c:pt>
                </c:lvl>
              </c:multiLvlStrCache>
            </c:multiLvlStrRef>
          </c:cat>
          <c:val>
            <c:numRef>
              <c:f>Sheet1!$D$2:$D$12</c:f>
              <c:numCache>
                <c:formatCode>General</c:formatCode>
                <c:ptCount val="11"/>
                <c:pt idx="0">
                  <c:v>0.937</c:v>
                </c:pt>
                <c:pt idx="1">
                  <c:v>0.614</c:v>
                </c:pt>
                <c:pt idx="2">
                  <c:v>0.676</c:v>
                </c:pt>
                <c:pt idx="3">
                  <c:v>0.824</c:v>
                </c:pt>
                <c:pt idx="4">
                  <c:v>0.799</c:v>
                </c:pt>
                <c:pt idx="5">
                  <c:v>0.537</c:v>
                </c:pt>
                <c:pt idx="6">
                  <c:v>0.799</c:v>
                </c:pt>
                <c:pt idx="7">
                  <c:v>0.497</c:v>
                </c:pt>
                <c:pt idx="8">
                  <c:v>0.183</c:v>
                </c:pt>
                <c:pt idx="9">
                  <c:v>0.48</c:v>
                </c:pt>
                <c:pt idx="10">
                  <c:v>0.058</c:v>
                </c:pt>
              </c:numCache>
            </c:numRef>
          </c:val>
        </c:ser>
        <c:dLbls>
          <c:numFmt formatCode="#,##0" sourceLinked="0"/>
          <c:txPr>
            <a:bodyPr/>
            <a:lstStyle/>
            <a:p>
              <a:pPr>
                <a:defRPr b="0" i="0" strike="noStrike" sz="1100" u="none">
                  <a:solidFill>
                    <a:srgbClr val="111111"/>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DDDD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9595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95959"/>
                </a:solidFill>
                <a:latin typeface="Arial"/>
              </a:defRPr>
            </a:pPr>
            <a:r>
              <a:rPr sz="1300" b="0" i="0" u="none" strike="noStrike">
                <a:solidFill>
                  <a:srgbClr val="595959"/>
                </a:solidFill>
                <a:latin typeface="Arial"/>
              </a:rPr>
              <a:t>Validation Macro F1 by k</a:t>
            </a:r>
          </a:p>
        </c:rich>
      </c:tx>
      <c:layout/>
      <c:overlay val="0"/>
    </c:title>
    <c:autoTitleDeleted val="0"/>
    <c:plotArea>
      <c:layout/>
      <c:barChart>
        <c:barDir val="col"/>
        <c:grouping val="clustered"/>
        <c:varyColors val="0"/>
        <c:ser>
          <c:idx val="0"/>
          <c:order val="0"/>
          <c:tx>
            <c:strRef>
              <c:f>Sheet1!$B$1</c:f>
              <c:strCache>
                <c:ptCount val="1"/>
                <c:pt idx="0">
                  <c:v>Cosine</c:v>
                </c:pt>
              </c:strCache>
            </c:strRef>
          </c:tx>
          <c:spPr>
            <a:solidFill>
              <a:srgbClr val="1B7F8C"/>
            </a:solidFill>
            <a:effectLst/>
          </c:spPr>
          <c:invertIfNegative val="0"/>
          <c:dLbls>
            <c:numFmt formatCode="0.00" sourceLinked="0"/>
            <c:txPr>
              <a:bodyPr/>
              <a:lstStyle/>
              <a:p>
                <a:pPr>
                  <a:defRPr b="0" i="0" strike="noStrike" sz="1000" u="none">
                    <a:solidFill>
                      <a:srgbClr val="111111"/>
                    </a:solidFill>
                    <a:latin typeface="Arial"/>
                  </a:defRPr>
                </a:pPr>
              </a:p>
            </c:txPr>
            <c:showLegendKey val="0"/>
            <c:showVal val="1"/>
            <c:showCatName val="0"/>
            <c:showSerName val="0"/>
            <c:showPercent val="0"/>
            <c:showBubbleSize val="0"/>
            <c:showLeaderLines val="0"/>
          </c:dLbls>
          <c:cat>
            <c:multiLvlStrRef>
              <c:f>Sheet1!$A$2:$A$5</c:f>
              <c:multiLvlStrCache>
                <c:ptCount val="4"/>
                <c:lvl>
                  <c:pt idx="0">
                    <c:v>k=1</c:v>
                  </c:pt>
                  <c:pt idx="1">
                    <c:v>k=5</c:v>
                  </c:pt>
                  <c:pt idx="2">
                    <c:v>k=15</c:v>
                  </c:pt>
                  <c:pt idx="3">
                    <c:v>k=31</c:v>
                  </c:pt>
                </c:lvl>
              </c:multiLvlStrCache>
            </c:multiLvlStrRef>
          </c:cat>
          <c:val>
            <c:numRef>
              <c:f>Sheet1!$B$2:$B$5</c:f>
              <c:numCache>
                <c:formatCode>General</c:formatCode>
                <c:ptCount val="4"/>
                <c:pt idx="0">
                  <c:v>0.542</c:v>
                </c:pt>
                <c:pt idx="1">
                  <c:v>0.599</c:v>
                </c:pt>
                <c:pt idx="2">
                  <c:v>0.622</c:v>
                </c:pt>
                <c:pt idx="3">
                  <c:v>0.622</c:v>
                </c:pt>
              </c:numCache>
            </c:numRef>
          </c:val>
        </c:ser>
        <c:ser>
          <c:idx val="1"/>
          <c:order val="1"/>
          <c:tx>
            <c:strRef>
              <c:f>Sheet1!$C$1</c:f>
              <c:strCache>
                <c:ptCount val="1"/>
                <c:pt idx="0">
                  <c:v>Euclidean (as first run)</c:v>
                </c:pt>
              </c:strCache>
            </c:strRef>
          </c:tx>
          <c:spPr>
            <a:solidFill>
              <a:srgbClr val="C0392B"/>
            </a:solidFill>
            <a:effectLst/>
          </c:spPr>
          <c:invertIfNegative val="0"/>
          <c:dLbls>
            <c:numFmt formatCode="0.00" sourceLinked="0"/>
            <c:txPr>
              <a:bodyPr/>
              <a:lstStyle/>
              <a:p>
                <a:pPr>
                  <a:defRPr b="0" i="0" strike="noStrike" sz="1000" u="none">
                    <a:solidFill>
                      <a:srgbClr val="111111"/>
                    </a:solidFill>
                    <a:latin typeface="Arial"/>
                  </a:defRPr>
                </a:pPr>
              </a:p>
            </c:txPr>
            <c:showLegendKey val="0"/>
            <c:showVal val="1"/>
            <c:showCatName val="0"/>
            <c:showSerName val="0"/>
            <c:showPercent val="0"/>
            <c:showBubbleSize val="0"/>
            <c:showLeaderLines val="0"/>
          </c:dLbls>
          <c:cat>
            <c:multiLvlStrRef>
              <c:f>Sheet1!$A$2:$A$5</c:f>
              <c:multiLvlStrCache>
                <c:ptCount val="4"/>
                <c:lvl>
                  <c:pt idx="0">
                    <c:v>k=1</c:v>
                  </c:pt>
                  <c:pt idx="1">
                    <c:v>k=5</c:v>
                  </c:pt>
                  <c:pt idx="2">
                    <c:v>k=15</c:v>
                  </c:pt>
                  <c:pt idx="3">
                    <c:v>k=31</c:v>
                  </c:pt>
                </c:lvl>
              </c:multiLvlStrCache>
            </c:multiLvlStrRef>
          </c:cat>
          <c:val>
            <c:numRef>
              <c:f>Sheet1!$C$2:$C$5</c:f>
              <c:numCache>
                <c:formatCode>General</c:formatCode>
                <c:ptCount val="4"/>
                <c:pt idx="0">
                  <c:v>0.147</c:v>
                </c:pt>
                <c:pt idx="1">
                  <c:v>0.115</c:v>
                </c:pt>
                <c:pt idx="2">
                  <c:v>0.099</c:v>
                </c:pt>
                <c:pt idx="3">
                  <c:v>0.405</c:v>
                </c:pt>
              </c:numCache>
            </c:numRef>
          </c:val>
        </c:ser>
        <c:dLbls>
          <c:numFmt formatCode="0.00" sourceLinked="0"/>
          <c:txPr>
            <a:bodyPr/>
            <a:lstStyle/>
            <a:p>
              <a:pPr>
                <a:defRPr b="0" i="0" strike="noStrike" sz="1000" u="none">
                  <a:solidFill>
                    <a:srgbClr val="11111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DDDDD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95959"/>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95959"/>
                </a:solidFill>
                <a:latin typeface="Arial"/>
              </a:defRPr>
            </a:pPr>
            <a:r>
              <a:rPr sz="1300" b="0" i="0" u="none" strike="noStrike">
                <a:solidFill>
                  <a:srgbClr val="595959"/>
                </a:solidFill>
                <a:latin typeface="Arial"/>
              </a:rPr>
              <a:t>Macro F1 vs training rows</a:t>
            </a:r>
          </a:p>
        </c:rich>
      </c:tx>
      <c:layout/>
      <c:overlay val="0"/>
    </c:title>
    <c:autoTitleDeleted val="0"/>
    <c:plotArea>
      <c:layout/>
      <c:lineChart>
        <c:varyColors val="0"/>
        <c:ser>
          <c:idx val="0"/>
          <c:order val="0"/>
          <c:tx>
            <c:strRef>
              <c:f>Sheet1!$B$1</c:f>
              <c:strCache>
                <c:ptCount val="1"/>
                <c:pt idx="0">
                  <c:v>NB val</c:v>
                </c:pt>
              </c:strCache>
            </c:strRef>
          </c:tx>
          <c:spPr>
            <a:solidFill>
              <a:srgbClr val="1F3A5F"/>
            </a:solidFill>
            <a:ln w="31750" cap="flat">
              <a:solidFill>
                <a:srgbClr val="1F3A5F"/>
              </a:solidFill>
              <a:prstDash val="solid"/>
              <a:round/>
            </a:ln>
            <a:effectLst/>
          </c:spPr>
          <c:invertIfNegative val="0"/>
          <c:dLbls>
            <c:numFmt formatCode="#,##0" sourceLinked="0"/>
            <c:txPr>
              <a:bodyPr/>
              <a:lstStyle/>
              <a:p>
                <a:pPr>
                  <a:defRPr b="0" i="0" strike="noStrike" sz="1100" u="none">
                    <a:solidFill>
                      <a:srgbClr val="111111"/>
                    </a:solidFill>
                    <a:latin typeface="Arial"/>
                  </a:defRPr>
                </a:pPr>
              </a:p>
            </c:txPr>
            <c:showLegendKey val="0"/>
            <c:showVal val="0"/>
            <c:showCatName val="0"/>
            <c:showSerName val="0"/>
            <c:showPercent val="0"/>
            <c:showBubbleSize val="0"/>
            <c:showLeaderLines val="0"/>
          </c:dLbls>
          <c:marker>
            <c:symbol val="circle"/>
            <c:size val="7"/>
            <c:spPr>
              <a:solidFill>
                <a:srgbClr val="1F3A5F"/>
              </a:solidFill>
              <a:ln w="9525" cap="flat">
                <a:solidFill>
                  <a:srgbClr val="1F3A5F"/>
                </a:solidFill>
                <a:prstDash val="solid"/>
                <a:round/>
              </a:ln>
              <a:effectLst/>
            </c:spPr>
          </c:marker>
          <c:cat>
            <c:multiLvlStrRef>
              <c:f>Sheet1!$A$2:$A$5</c:f>
              <c:multiLvlStrCache>
                <c:ptCount val="4"/>
                <c:lvl>
                  <c:pt idx="0">
                    <c:v>6.8k</c:v>
                  </c:pt>
                  <c:pt idx="1">
                    <c:v>17k</c:v>
                  </c:pt>
                  <c:pt idx="2">
                    <c:v>34k</c:v>
                  </c:pt>
                  <c:pt idx="3">
                    <c:v>68k</c:v>
                  </c:pt>
                </c:lvl>
              </c:multiLvlStrCache>
            </c:multiLvlStrRef>
          </c:cat>
          <c:val>
            <c:numRef>
              <c:f>Sheet1!$B$2:$B$5</c:f>
              <c:numCache>
                <c:formatCode>General</c:formatCode>
                <c:ptCount val="4"/>
                <c:pt idx="0">
                  <c:v>0.544</c:v>
                </c:pt>
                <c:pt idx="1">
                  <c:v>0.58</c:v>
                </c:pt>
                <c:pt idx="2">
                  <c:v>0.613</c:v>
                </c:pt>
                <c:pt idx="3">
                  <c:v>0.623</c:v>
                </c:pt>
              </c:numCache>
            </c:numRef>
          </c:val>
          <c:smooth val="0"/>
        </c:ser>
        <c:ser>
          <c:idx val="1"/>
          <c:order val="1"/>
          <c:tx>
            <c:strRef>
              <c:f>Sheet1!$C$1</c:f>
              <c:strCache>
                <c:ptCount val="1"/>
                <c:pt idx="0">
                  <c:v>LR val</c:v>
                </c:pt>
              </c:strCache>
            </c:strRef>
          </c:tx>
          <c:spPr>
            <a:solidFill>
              <a:srgbClr val="C0392B"/>
            </a:solidFill>
            <a:ln w="31750" cap="flat">
              <a:solidFill>
                <a:srgbClr val="C0392B"/>
              </a:solidFill>
              <a:prstDash val="solid"/>
              <a:round/>
            </a:ln>
            <a:effectLst/>
          </c:spPr>
          <c:invertIfNegative val="0"/>
          <c:dLbls>
            <c:numFmt formatCode="#,##0" sourceLinked="0"/>
            <c:txPr>
              <a:bodyPr/>
              <a:lstStyle/>
              <a:p>
                <a:pPr>
                  <a:defRPr b="0" i="0" strike="noStrike" sz="1100" u="none">
                    <a:solidFill>
                      <a:srgbClr val="111111"/>
                    </a:solidFill>
                    <a:latin typeface="Arial"/>
                  </a:defRPr>
                </a:pPr>
              </a:p>
            </c:txPr>
            <c:showLegendKey val="0"/>
            <c:showVal val="0"/>
            <c:showCatName val="0"/>
            <c:showSerName val="0"/>
            <c:showPercent val="0"/>
            <c:showBubbleSize val="0"/>
            <c:showLeaderLines val="0"/>
          </c:dLbls>
          <c:marker>
            <c:symbol val="circle"/>
            <c:size val="7"/>
            <c:spPr>
              <a:solidFill>
                <a:srgbClr val="C0392B"/>
              </a:solidFill>
              <a:ln w="9525" cap="flat">
                <a:solidFill>
                  <a:srgbClr val="C0392B"/>
                </a:solidFill>
                <a:prstDash val="solid"/>
                <a:round/>
              </a:ln>
              <a:effectLst/>
            </c:spPr>
          </c:marker>
          <c:cat>
            <c:multiLvlStrRef>
              <c:f>Sheet1!$A$2:$A$5</c:f>
              <c:multiLvlStrCache>
                <c:ptCount val="4"/>
                <c:lvl>
                  <c:pt idx="0">
                    <c:v>6.8k</c:v>
                  </c:pt>
                  <c:pt idx="1">
                    <c:v>17k</c:v>
                  </c:pt>
                  <c:pt idx="2">
                    <c:v>34k</c:v>
                  </c:pt>
                  <c:pt idx="3">
                    <c:v>68k</c:v>
                  </c:pt>
                </c:lvl>
              </c:multiLvlStrCache>
            </c:multiLvlStrRef>
          </c:cat>
          <c:val>
            <c:numRef>
              <c:f>Sheet1!$C$2:$C$5</c:f>
              <c:numCache>
                <c:formatCode>General</c:formatCode>
                <c:ptCount val="4"/>
                <c:pt idx="0">
                  <c:v>0.621</c:v>
                </c:pt>
                <c:pt idx="1">
                  <c:v>0.652</c:v>
                </c:pt>
                <c:pt idx="2">
                  <c:v>0.663</c:v>
                </c:pt>
                <c:pt idx="3">
                  <c:v>0.682</c:v>
                </c:pt>
              </c:numCache>
            </c:numRef>
          </c:val>
          <c:smooth val="0"/>
        </c:ser>
        <c:ser>
          <c:idx val="2"/>
          <c:order val="2"/>
          <c:tx>
            <c:strRef>
              <c:f>Sheet1!$D$1</c:f>
              <c:strCache>
                <c:ptCount val="1"/>
                <c:pt idx="0">
                  <c:v>NB train</c:v>
                </c:pt>
              </c:strCache>
            </c:strRef>
          </c:tx>
          <c:spPr>
            <a:solidFill>
              <a:srgbClr val="8FA8C8"/>
            </a:solidFill>
            <a:ln w="31750" cap="flat">
              <a:solidFill>
                <a:srgbClr val="8FA8C8"/>
              </a:solidFill>
              <a:prstDash val="solid"/>
              <a:round/>
            </a:ln>
            <a:effectLst/>
          </c:spPr>
          <c:invertIfNegative val="0"/>
          <c:dLbls>
            <c:numFmt formatCode="#,##0" sourceLinked="0"/>
            <c:txPr>
              <a:bodyPr/>
              <a:lstStyle/>
              <a:p>
                <a:pPr>
                  <a:defRPr b="0" i="0" strike="noStrike" sz="1100" u="none">
                    <a:solidFill>
                      <a:srgbClr val="111111"/>
                    </a:solidFill>
                    <a:latin typeface="Arial"/>
                  </a:defRPr>
                </a:pPr>
              </a:p>
            </c:txPr>
            <c:showLegendKey val="0"/>
            <c:showVal val="0"/>
            <c:showCatName val="0"/>
            <c:showSerName val="0"/>
            <c:showPercent val="0"/>
            <c:showBubbleSize val="0"/>
            <c:showLeaderLines val="0"/>
          </c:dLbls>
          <c:marker>
            <c:symbol val="circle"/>
            <c:size val="7"/>
            <c:spPr>
              <a:solidFill>
                <a:srgbClr val="8FA8C8"/>
              </a:solidFill>
              <a:ln w="9525" cap="flat">
                <a:solidFill>
                  <a:srgbClr val="8FA8C8"/>
                </a:solidFill>
                <a:prstDash val="solid"/>
                <a:round/>
              </a:ln>
              <a:effectLst/>
            </c:spPr>
          </c:marker>
          <c:cat>
            <c:multiLvlStrRef>
              <c:f>Sheet1!$A$2:$A$5</c:f>
              <c:multiLvlStrCache>
                <c:ptCount val="4"/>
                <c:lvl>
                  <c:pt idx="0">
                    <c:v>6.8k</c:v>
                  </c:pt>
                  <c:pt idx="1">
                    <c:v>17k</c:v>
                  </c:pt>
                  <c:pt idx="2">
                    <c:v>34k</c:v>
                  </c:pt>
                  <c:pt idx="3">
                    <c:v>68k</c:v>
                  </c:pt>
                </c:lvl>
              </c:multiLvlStrCache>
            </c:multiLvlStrRef>
          </c:cat>
          <c:val>
            <c:numRef>
              <c:f>Sheet1!$D$2:$D$5</c:f>
              <c:numCache>
                <c:formatCode>General</c:formatCode>
                <c:ptCount val="4"/>
                <c:pt idx="0">
                  <c:v>0.901</c:v>
                </c:pt>
                <c:pt idx="1">
                  <c:v>0.815</c:v>
                </c:pt>
                <c:pt idx="2">
                  <c:v>0.752</c:v>
                </c:pt>
                <c:pt idx="3">
                  <c:v>0.705</c:v>
                </c:pt>
              </c:numCache>
            </c:numRef>
          </c:val>
          <c:smooth val="0"/>
        </c:ser>
        <c:ser>
          <c:idx val="3"/>
          <c:order val="3"/>
          <c:tx>
            <c:strRef>
              <c:f>Sheet1!$E$1</c:f>
              <c:strCache>
                <c:ptCount val="1"/>
                <c:pt idx="0">
                  <c:v>LR train</c:v>
                </c:pt>
              </c:strCache>
            </c:strRef>
          </c:tx>
          <c:spPr>
            <a:solidFill>
              <a:srgbClr val="E5A39B"/>
            </a:solidFill>
            <a:ln w="31750" cap="flat">
              <a:solidFill>
                <a:srgbClr val="E5A39B"/>
              </a:solidFill>
              <a:prstDash val="solid"/>
              <a:round/>
            </a:ln>
            <a:effectLst/>
          </c:spPr>
          <c:invertIfNegative val="0"/>
          <c:dLbls>
            <c:numFmt formatCode="#,##0" sourceLinked="0"/>
            <c:txPr>
              <a:bodyPr/>
              <a:lstStyle/>
              <a:p>
                <a:pPr>
                  <a:defRPr b="0" i="0" strike="noStrike" sz="1100" u="none">
                    <a:solidFill>
                      <a:srgbClr val="111111"/>
                    </a:solidFill>
                    <a:latin typeface="Arial"/>
                  </a:defRPr>
                </a:pPr>
              </a:p>
            </c:txPr>
            <c:showLegendKey val="0"/>
            <c:showVal val="0"/>
            <c:showCatName val="0"/>
            <c:showSerName val="0"/>
            <c:showPercent val="0"/>
            <c:showBubbleSize val="0"/>
            <c:showLeaderLines val="0"/>
          </c:dLbls>
          <c:marker>
            <c:symbol val="circle"/>
            <c:size val="7"/>
            <c:spPr>
              <a:solidFill>
                <a:srgbClr val="E5A39B"/>
              </a:solidFill>
              <a:ln w="9525" cap="flat">
                <a:solidFill>
                  <a:srgbClr val="E5A39B"/>
                </a:solidFill>
                <a:prstDash val="solid"/>
                <a:round/>
              </a:ln>
              <a:effectLst/>
            </c:spPr>
          </c:marker>
          <c:cat>
            <c:multiLvlStrRef>
              <c:f>Sheet1!$A$2:$A$5</c:f>
              <c:multiLvlStrCache>
                <c:ptCount val="4"/>
                <c:lvl>
                  <c:pt idx="0">
                    <c:v>6.8k</c:v>
                  </c:pt>
                  <c:pt idx="1">
                    <c:v>17k</c:v>
                  </c:pt>
                  <c:pt idx="2">
                    <c:v>34k</c:v>
                  </c:pt>
                  <c:pt idx="3">
                    <c:v>68k</c:v>
                  </c:pt>
                </c:lvl>
              </c:multiLvlStrCache>
            </c:multiLvlStrRef>
          </c:cat>
          <c:val>
            <c:numRef>
              <c:f>Sheet1!$E$2:$E$5</c:f>
              <c:numCache>
                <c:formatCode>General</c:formatCode>
                <c:ptCount val="4"/>
                <c:pt idx="0">
                  <c:v>0.992</c:v>
                </c:pt>
                <c:pt idx="1">
                  <c:v>0.985</c:v>
                </c:pt>
                <c:pt idx="2">
                  <c:v>0.963</c:v>
                </c:pt>
                <c:pt idx="3">
                  <c:v>0.925</c:v>
                </c:pt>
              </c:numCache>
            </c:numRef>
          </c:val>
          <c:smooth val="0"/>
        </c:ser>
        <c:dLbls>
          <c:numFmt formatCode="#,##0" sourceLinked="0"/>
          <c:txPr>
            <a:bodyPr/>
            <a:lstStyle/>
            <a:p>
              <a:pPr>
                <a:defRPr b="0" i="0" strike="noStrike" sz="1100" u="none">
                  <a:solidFill>
                    <a:srgbClr val="111111"/>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DDDDD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95959"/>
                </a:solidFill>
                <a:latin typeface="Arial"/>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595959"/>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0:00-0:15] Hi, we are Team 32, KASS Tech. This is our Milestone 4 progress update on automated triage of consumer complaints: predicting which financial product a CFPB complaint is about, from its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0:15-0:45] The task is 11-class text classification: one complaint narrative in, one CFPB product out. The CFPB stopped publishing narratives in August, so our April to July 2024 archive is a frozen snapshot. Half of all narratives were exact copies, mostly template letters, so we collapsed them to 97,655 distinct complaints and split them group-aware, so no copy lands in both train and evaluation. The data is heavily imbalanced: credit reporting is 51 percent of rows and the smallest class is under half a percent. Guessing the class mix scores 31 percent accuracy but a Macro F1 of only 0.09, so Macro F1 is our main metric. All scores today are on the validation split; the test split is sealed.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0:45-1:15] The pipeline is the same for every model. We clean and de-duplicate, make the group-aware split, then fit TF-IDF on the training split only, with one to two word n-grams and 10,000 features, so nothing leaks from validation. On top of it we compare three models: Multinomial Naive Bayes, which was our M3 baseline; k nearest neighbours; and L2 logistic regression, our main candidate. Hyperparameters are tuned on validation Macro F1, and all runs use seed 42 on a laptop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[Subangan, 1:15-2:15] Why these three? Text is high-dimensional and sparse, and classes are close to linearly separable, so linear models are the right family. Naive Bayes is the generative view: it multiplies smoothed word probabilities with a class prior. Its independence assumption is wrong, but it needs one pass over the data. Logistic regression is the discriminative view: a softmax trained on cross-entropy, which is the negative log-likelihood, with an L2 penalty that equals a Gaussian prior. The problem is convex, so lbfgs gives one deterministic optimum. Ng and Jordan show the discriminative model has the lower asymptotic error, and our learning curve agrees. K-NN needs no model, and Cover and Hart bound its error at twice the Bayes error, but on sparse text it only sees shared words. We use Macro F1 because accuracy rewards the majority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2:15-2:50] Here are validation Macro F1 scores. Both naive benchmarks sit at their chance levels. Our M3 Naive Bayes baseline reaches 0.623. Cosine k-NN is a tie at 0.622. Logistic regression is the best model so far at 0.682; C equals 1 and C equals 10 are tied. The gain over Naive Bayes is plus 0.058 Macro F1, and the paired bootstrap 95 percent interval is 0.044 to 0.072, so it is not noise. The k-NN difference to Naive Bayes is minus 0.002 with an interval that spans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2:50-3:25] Overall scores hide a clear pattern. Large classes reach high recall for every model. The small classes do not: Debt or credit management, with only 69 validation rows, has recall 0.03 for Naive Bayes and 0.09 for logistic regression. Payday loans improve from 0.28 to 0.40, and money transfer from 0.40 to 0.61. Reweighting classes or removing the prior raised recall but lost more precision, so Macro F1 did not improve. Most errors are debt collection and credit reporting confused with each other, since they share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3:25-4:00] An unexpected result. On unit-length TF-IDF vectors, squared Euclidean distance equals two minus two times cosine, so Euclidean and cosine k-NN should give the same neighbours. Our first Euclidean runs scored 0.10 Macro F1 instead of 0.62. The cause was 11 training rows, 0.02 percent, whose TF-IDF vector is all zeros. An empty vector is at distance exactly 1 from every unit vector, so for any query whose best real neighbour has cosine below 0.5, the empty rows become the nearest neighbours. Dropping those 11 rows brings Euclidean to 0.621 and 99.6 percent agreement with cosine. Cosine is robust because it ignores vector length. The lesson is to guard against empty vectors in the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[Alex, 4:00-4:20] The learning curve shows validation Macro F1 still rising at the full 68 thousand training rows for both models, and logistic regression ahead at every size. Logistic regression fits the training data much more tightly, 0.92 versus 0.70, so it has more variance. C equals 1 gets the same validation score with a train-validation gap of 0.08 instead of 0.24, so we carry both C values into M5 and let bootstrap intervals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[Sayon, 4:20-4:45] Deviations: the core plan is unchanged. Compute estimates from M2 were off, as k-NN and logistic regression took about 27 and 21 to 36 seconds, so the full ablation is still only 15 to 20 minutes per pass. We pulled logistic regression and k-NN forward from M5 and kept the code in standalone scripts so we did not edit shared files the night before. Blockers: the main one is rare-class recall. Also, our scores are slightly optimistic because we tune on validation, and we still need to log instructor and peer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[Sayon, 4:45-5:00] The remaining timeline: by November 13 we run the 12-setting TF-IDF ablation for all three models. Alex and Sayon first move the models into the shared code and build the ablation runner by November 6. Subangan runs the rare-class study and robustness checks, due the 13th and 18th. Milestone 5 is due November 20: one pass over the sealed test split, robustness checks and the results package. Milestone 6 is December 4: the final report and an 8 to 10 minute presentation. Milestone 7 on December 7 is the individual reflection and oral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5:00 - trim as needed] From our own M3 reflection we acted on four items: LR and k-NN through the same table, no more treating the tuning score as final, testing fit_prior equals false, and budgeting from measured times. [TEAM: add instructor feedback and the peer check-in once they are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[Kevin, 5:00 end] To sum up: logistic regression beats our Naive Bayes baseline by 0.058 Macro F1, with a confidence interval that excludes zero; k-NN only ties it and is far slower. Rare classes are the main risk, and M5 targets them. The pipeline is reproducible, the test split is still sealed, and compute is well within budget.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ctr" indent="0" marL="0">
              <a:buNone/>
              <a:defRPr lang="en-US" sz="3000" dirty="0">
                <a:solidFill>
                  <a:srgbClr val="111111"/>
                </a:solidFill>
                <a:latin typeface="Arial" pitchFamily="34" charset="0"/>
                <a:ea typeface="Arial" pitchFamily="34" charset="-122"/>
                <a:cs typeface="Arial"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274320" y="1097280"/>
            <a:ext cx="8595360" cy="731520"/>
          </a:xfrm>
          <a:prstGeom prst="rect">
            <a:avLst/>
          </a:prstGeom>
          <a:noFill/>
          <a:ln/>
        </p:spPr>
        <p:txBody>
          <a:bodyPr wrap="square" lIns="0" tIns="0" rIns="0" bIns="0" rtlCol="0" anchor="ctr"/>
          <a:lstStyle/>
          <a:p>
            <a:pPr algn="ctr" indent="0" marL="0">
              <a:buNone/>
            </a:pPr>
            <a:r>
              <a:rPr lang="en-US" sz="3200" b="1" dirty="0">
                <a:solidFill>
                  <a:srgbClr val="111111"/>
                </a:solidFill>
                <a:latin typeface="Arial" pitchFamily="34" charset="0"/>
                <a:ea typeface="Arial" pitchFamily="34" charset="-122"/>
                <a:cs typeface="Arial" pitchFamily="34" charset="-120"/>
              </a:rPr>
              <a:t>Automated Consumer Complaint Triage</a:t>
            </a:r>
            <a:endParaRPr lang="en-US" sz="3200" dirty="0"/>
          </a:p>
        </p:txBody>
      </p:sp>
      <p:sp>
        <p:nvSpPr>
          <p:cNvPr id="4" name="Text 1"/>
          <p:cNvSpPr txBox="1"/>
          <p:nvPr/>
        </p:nvSpPr>
        <p:spPr>
          <a:xfrm>
            <a:off x="914400" y="1965960"/>
            <a:ext cx="7315200" cy="731520"/>
          </a:xfrm>
          <a:prstGeom prst="rect">
            <a:avLst/>
          </a:prstGeom>
          <a:noFill/>
          <a:ln/>
        </p:spPr>
        <p:txBody>
          <a:bodyPr wrap="square" lIns="0" tIns="0" rIns="0" bIns="0" rtlCol="0" anchor="ctr"/>
          <a:lstStyle/>
          <a:p>
            <a:pPr algn="ctr" indent="0" marL="0">
              <a:buNone/>
            </a:pPr>
            <a:r>
              <a:rPr lang="en-US" sz="2000" dirty="0">
                <a:solidFill>
                  <a:srgbClr val="595959"/>
                </a:solidFill>
                <a:latin typeface="Arial" pitchFamily="34" charset="0"/>
                <a:ea typeface="Arial" pitchFamily="34" charset="-122"/>
                <a:cs typeface="Arial" pitchFamily="34" charset="-120"/>
              </a:rPr>
              <a:t>Predicting the Product of a CFPB Complaint from Its Narrative: Milestone 4 Progress Report</a:t>
            </a:r>
            <a:endParaRPr lang="en-US" sz="2000" dirty="0"/>
          </a:p>
        </p:txBody>
      </p:sp>
      <p:sp>
        <p:nvSpPr>
          <p:cNvPr id="5" name="Text 2"/>
          <p:cNvSpPr txBox="1"/>
          <p:nvPr/>
        </p:nvSpPr>
        <p:spPr>
          <a:xfrm>
            <a:off x="457200" y="3017520"/>
            <a:ext cx="8229600" cy="365760"/>
          </a:xfrm>
          <a:prstGeom prst="rect">
            <a:avLst/>
          </a:prstGeom>
          <a:noFill/>
          <a:ln/>
        </p:spPr>
        <p:txBody>
          <a:bodyPr wrap="square" lIns="0" tIns="0" rIns="0" bIns="0" rtlCol="0" anchor="ctr"/>
          <a:lstStyle/>
          <a:p>
            <a:pPr algn="ctr" indent="0" marL="0">
              <a:buNone/>
            </a:pPr>
            <a:r>
              <a:rPr lang="en-US" sz="1800" dirty="0">
                <a:solidFill>
                  <a:srgbClr val="595959"/>
                </a:solidFill>
                <a:latin typeface="Arial" pitchFamily="34" charset="0"/>
                <a:ea typeface="Arial" pitchFamily="34" charset="-122"/>
                <a:cs typeface="Arial" pitchFamily="34" charset="-120"/>
              </a:rPr>
              <a:t>Kevin Thomas, Alex Facey, Subangan Sundaralingam, Sayon Kirubaharan</a:t>
            </a:r>
            <a:endParaRPr lang="en-US" sz="1800" dirty="0"/>
          </a:p>
        </p:txBody>
      </p:sp>
      <p:sp>
        <p:nvSpPr>
          <p:cNvPr id="6" name="Text 3"/>
          <p:cNvSpPr txBox="1"/>
          <p:nvPr/>
        </p:nvSpPr>
        <p:spPr>
          <a:xfrm>
            <a:off x="457200" y="3474720"/>
            <a:ext cx="8229600" cy="365760"/>
          </a:xfrm>
          <a:prstGeom prst="rect">
            <a:avLst/>
          </a:prstGeom>
          <a:noFill/>
          <a:ln/>
        </p:spPr>
        <p:txBody>
          <a:bodyPr wrap="square" lIns="0" tIns="0" rIns="0" bIns="0" rtlCol="0" anchor="ctr"/>
          <a:lstStyle/>
          <a:p>
            <a:pPr algn="ctr" indent="0" marL="0">
              <a:buNone/>
            </a:pPr>
            <a:r>
              <a:rPr lang="en-US" sz="1600" dirty="0">
                <a:solidFill>
                  <a:srgbClr val="595959"/>
                </a:solidFill>
                <a:latin typeface="Arial" pitchFamily="34" charset="0"/>
                <a:ea typeface="Arial" pitchFamily="34" charset="-122"/>
                <a:cs typeface="Arial" pitchFamily="34" charset="-120"/>
              </a:rPr>
              <a:t>Team 32 (KASS Tech), CSCI 3052 · October 30, 2026</a:t>
            </a:r>
            <a:endParaRPr lang="en-US" sz="1600" dirty="0"/>
          </a:p>
        </p:txBody>
      </p:sp>
      <p:sp>
        <p:nvSpPr>
          <p:cNvPr id="7"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endParaRPr lang="en-US" sz="3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Task and Data</a:t>
            </a:r>
            <a:endParaRPr lang="en-US" sz="3000" dirty="0"/>
          </a:p>
        </p:txBody>
      </p:sp>
      <p:sp>
        <p:nvSpPr>
          <p:cNvPr id="4" name="Shape 1"/>
          <p:cNvSpPr/>
          <p:nvPr/>
        </p:nvSpPr>
        <p:spPr>
          <a:xfrm>
            <a:off x="457200" y="1188720"/>
            <a:ext cx="1874520" cy="1143000"/>
          </a:xfrm>
          <a:prstGeom prst="rect">
            <a:avLst/>
          </a:prstGeom>
          <a:solidFill>
            <a:srgbClr val="EEF3F8"/>
          </a:solidFill>
          <a:ln w="12700">
            <a:solidFill>
              <a:srgbClr val="EEF3F8"/>
            </a:solidFill>
            <a:prstDash val="solid"/>
          </a:ln>
        </p:spPr>
      </p:sp>
      <p:sp>
        <p:nvSpPr>
          <p:cNvPr id="5" name="Text 2"/>
          <p:cNvSpPr txBox="1"/>
          <p:nvPr/>
        </p:nvSpPr>
        <p:spPr>
          <a:xfrm>
            <a:off x="457200" y="1298448"/>
            <a:ext cx="1874520" cy="594360"/>
          </a:xfrm>
          <a:prstGeom prst="rect">
            <a:avLst/>
          </a:prstGeom>
          <a:noFill/>
          <a:ln/>
        </p:spPr>
        <p:txBody>
          <a:bodyPr wrap="square" lIns="0" tIns="0" rIns="0" bIns="0" rtlCol="0" anchor="ctr"/>
          <a:lstStyle/>
          <a:p>
            <a:pPr algn="ctr" indent="0" marL="0">
              <a:buNone/>
            </a:pPr>
            <a:r>
              <a:rPr lang="en-US" sz="3400" b="1" dirty="0">
                <a:solidFill>
                  <a:srgbClr val="1F3A5F"/>
                </a:solidFill>
                <a:latin typeface="Arial" pitchFamily="34" charset="0"/>
                <a:ea typeface="Arial" pitchFamily="34" charset="-122"/>
                <a:cs typeface="Arial" pitchFamily="34" charset="-120"/>
              </a:rPr>
              <a:t>97,655</a:t>
            </a:r>
            <a:endParaRPr lang="en-US" sz="3400" dirty="0"/>
          </a:p>
        </p:txBody>
      </p:sp>
      <p:sp>
        <p:nvSpPr>
          <p:cNvPr id="6" name="Text 3"/>
          <p:cNvSpPr txBox="1"/>
          <p:nvPr/>
        </p:nvSpPr>
        <p:spPr>
          <a:xfrm>
            <a:off x="548640" y="1901952"/>
            <a:ext cx="1691640" cy="36576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distinct complaints after de-duplication</a:t>
            </a:r>
            <a:endParaRPr lang="en-US" sz="1200" dirty="0"/>
          </a:p>
        </p:txBody>
      </p:sp>
      <p:sp>
        <p:nvSpPr>
          <p:cNvPr id="7" name="Shape 4"/>
          <p:cNvSpPr/>
          <p:nvPr/>
        </p:nvSpPr>
        <p:spPr>
          <a:xfrm>
            <a:off x="2423160" y="1188720"/>
            <a:ext cx="1874520" cy="1143000"/>
          </a:xfrm>
          <a:prstGeom prst="rect">
            <a:avLst/>
          </a:prstGeom>
          <a:solidFill>
            <a:srgbClr val="EEF3F8"/>
          </a:solidFill>
          <a:ln w="12700">
            <a:solidFill>
              <a:srgbClr val="EEF3F8"/>
            </a:solidFill>
            <a:prstDash val="solid"/>
          </a:ln>
        </p:spPr>
      </p:sp>
      <p:sp>
        <p:nvSpPr>
          <p:cNvPr id="8" name="Text 5"/>
          <p:cNvSpPr txBox="1"/>
          <p:nvPr/>
        </p:nvSpPr>
        <p:spPr>
          <a:xfrm>
            <a:off x="2423160" y="1298448"/>
            <a:ext cx="1874520" cy="594360"/>
          </a:xfrm>
          <a:prstGeom prst="rect">
            <a:avLst/>
          </a:prstGeom>
          <a:noFill/>
          <a:ln/>
        </p:spPr>
        <p:txBody>
          <a:bodyPr wrap="square" lIns="0" tIns="0" rIns="0" bIns="0" rtlCol="0" anchor="ctr"/>
          <a:lstStyle/>
          <a:p>
            <a:pPr algn="ctr" indent="0" marL="0">
              <a:buNone/>
            </a:pPr>
            <a:r>
              <a:rPr lang="en-US" sz="3400" b="1" dirty="0">
                <a:solidFill>
                  <a:srgbClr val="1F3A5F"/>
                </a:solidFill>
                <a:latin typeface="Arial" pitchFamily="34" charset="0"/>
                <a:ea typeface="Arial" pitchFamily="34" charset="-122"/>
                <a:cs typeface="Arial" pitchFamily="34" charset="-120"/>
              </a:rPr>
              <a:t>11</a:t>
            </a:r>
            <a:endParaRPr lang="en-US" sz="3400" dirty="0"/>
          </a:p>
        </p:txBody>
      </p:sp>
      <p:sp>
        <p:nvSpPr>
          <p:cNvPr id="9" name="Text 6"/>
          <p:cNvSpPr txBox="1"/>
          <p:nvPr/>
        </p:nvSpPr>
        <p:spPr>
          <a:xfrm>
            <a:off x="2514600" y="1901952"/>
            <a:ext cx="1691640" cy="36576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product classes (target)</a:t>
            </a:r>
            <a:endParaRPr lang="en-US" sz="1200" dirty="0"/>
          </a:p>
        </p:txBody>
      </p:sp>
      <p:sp>
        <p:nvSpPr>
          <p:cNvPr id="10" name="Shape 7"/>
          <p:cNvSpPr/>
          <p:nvPr/>
        </p:nvSpPr>
        <p:spPr>
          <a:xfrm>
            <a:off x="4389120" y="1188720"/>
            <a:ext cx="1874520" cy="1143000"/>
          </a:xfrm>
          <a:prstGeom prst="rect">
            <a:avLst/>
          </a:prstGeom>
          <a:solidFill>
            <a:srgbClr val="EEF3F8"/>
          </a:solidFill>
          <a:ln w="12700">
            <a:solidFill>
              <a:srgbClr val="EEF3F8"/>
            </a:solidFill>
            <a:prstDash val="solid"/>
          </a:ln>
        </p:spPr>
      </p:sp>
      <p:sp>
        <p:nvSpPr>
          <p:cNvPr id="11" name="Text 8"/>
          <p:cNvSpPr txBox="1"/>
          <p:nvPr/>
        </p:nvSpPr>
        <p:spPr>
          <a:xfrm>
            <a:off x="4389120" y="1298448"/>
            <a:ext cx="1874520" cy="594360"/>
          </a:xfrm>
          <a:prstGeom prst="rect">
            <a:avLst/>
          </a:prstGeom>
          <a:noFill/>
          <a:ln/>
        </p:spPr>
        <p:txBody>
          <a:bodyPr wrap="square" lIns="0" tIns="0" rIns="0" bIns="0" rtlCol="0" anchor="ctr"/>
          <a:lstStyle/>
          <a:p>
            <a:pPr algn="ctr" indent="0" marL="0">
              <a:buNone/>
            </a:pPr>
            <a:r>
              <a:rPr lang="en-US" sz="3400" b="1" dirty="0">
                <a:solidFill>
                  <a:srgbClr val="C0392B"/>
                </a:solidFill>
                <a:latin typeface="Arial" pitchFamily="34" charset="0"/>
                <a:ea typeface="Arial" pitchFamily="34" charset="-122"/>
                <a:cs typeface="Arial" pitchFamily="34" charset="-120"/>
              </a:rPr>
              <a:t>111 : 1</a:t>
            </a:r>
            <a:endParaRPr lang="en-US" sz="3400" dirty="0"/>
          </a:p>
        </p:txBody>
      </p:sp>
      <p:sp>
        <p:nvSpPr>
          <p:cNvPr id="12" name="Text 9"/>
          <p:cNvSpPr txBox="1"/>
          <p:nvPr/>
        </p:nvSpPr>
        <p:spPr>
          <a:xfrm>
            <a:off x="4480560" y="1901952"/>
            <a:ext cx="1691640" cy="36576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largest to smallest class</a:t>
            </a:r>
            <a:endParaRPr lang="en-US" sz="1200" dirty="0"/>
          </a:p>
        </p:txBody>
      </p:sp>
      <p:sp>
        <p:nvSpPr>
          <p:cNvPr id="13" name="Shape 10"/>
          <p:cNvSpPr/>
          <p:nvPr/>
        </p:nvSpPr>
        <p:spPr>
          <a:xfrm>
            <a:off x="6355080" y="1188720"/>
            <a:ext cx="2331720" cy="1143000"/>
          </a:xfrm>
          <a:prstGeom prst="rect">
            <a:avLst/>
          </a:prstGeom>
          <a:solidFill>
            <a:srgbClr val="EEF3F8"/>
          </a:solidFill>
          <a:ln w="12700">
            <a:solidFill>
              <a:srgbClr val="EEF3F8"/>
            </a:solidFill>
            <a:prstDash val="solid"/>
          </a:ln>
        </p:spPr>
      </p:sp>
      <p:sp>
        <p:nvSpPr>
          <p:cNvPr id="14" name="Text 11"/>
          <p:cNvSpPr txBox="1"/>
          <p:nvPr/>
        </p:nvSpPr>
        <p:spPr>
          <a:xfrm>
            <a:off x="6355080" y="1298448"/>
            <a:ext cx="2331720" cy="594360"/>
          </a:xfrm>
          <a:prstGeom prst="rect">
            <a:avLst/>
          </a:prstGeom>
          <a:noFill/>
          <a:ln/>
        </p:spPr>
        <p:txBody>
          <a:bodyPr wrap="square" lIns="0" tIns="0" rIns="0" bIns="0" rtlCol="0" anchor="ctr"/>
          <a:lstStyle/>
          <a:p>
            <a:pPr algn="ctr" indent="0" marL="0">
              <a:buNone/>
            </a:pPr>
            <a:r>
              <a:rPr lang="en-US" sz="3400" b="1" dirty="0">
                <a:solidFill>
                  <a:srgbClr val="C0392B"/>
                </a:solidFill>
                <a:latin typeface="Arial" pitchFamily="34" charset="0"/>
                <a:ea typeface="Arial" pitchFamily="34" charset="-122"/>
                <a:cs typeface="Arial" pitchFamily="34" charset="-120"/>
              </a:rPr>
              <a:t>0.092</a:t>
            </a:r>
            <a:endParaRPr lang="en-US" sz="3400" dirty="0"/>
          </a:p>
        </p:txBody>
      </p:sp>
      <p:sp>
        <p:nvSpPr>
          <p:cNvPr id="15" name="Text 12"/>
          <p:cNvSpPr txBox="1"/>
          <p:nvPr/>
        </p:nvSpPr>
        <p:spPr>
          <a:xfrm>
            <a:off x="6446520" y="1901952"/>
            <a:ext cx="2148840" cy="36576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Macro F1 of a stratified random guesser</a:t>
            </a:r>
            <a:endParaRPr lang="en-US" sz="1200" dirty="0"/>
          </a:p>
        </p:txBody>
      </p:sp>
      <p:sp>
        <p:nvSpPr>
          <p:cNvPr id="16" name="Text 13"/>
          <p:cNvSpPr txBox="1"/>
          <p:nvPr/>
        </p:nvSpPr>
        <p:spPr>
          <a:xfrm>
            <a:off x="640080" y="2743200"/>
            <a:ext cx="786384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Input: narrative text (masked XXXX tokens removed). Label: CFPB Product.</a:t>
            </a:r>
            <a:endParaRPr lang="en-US" sz="1600" dirty="0"/>
          </a:p>
          <a:p>
            <a:pPr marL="342900" indent="-3429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Group-aware 70/15/15 split: train 68,357, validation 14,649, test 14,649 (sealed until M5).</a:t>
            </a:r>
            <a:endParaRPr lang="en-US" sz="1600" dirty="0"/>
          </a:p>
          <a:p>
            <a:pPr marL="342900" indent="-342900">
              <a:spcAft>
                <a:spcPts val="800"/>
              </a:spcAft>
              <a:buSzPct val="100000"/>
              <a:buChar char="•"/>
            </a:pPr>
            <a:r>
              <a:rPr lang="en-US" sz="1600" dirty="0">
                <a:solidFill>
                  <a:srgbClr val="595959"/>
                </a:solidFill>
                <a:latin typeface="Arial" pitchFamily="34" charset="0"/>
                <a:ea typeface="Arial" pitchFamily="34" charset="-122"/>
                <a:cs typeface="Arial" pitchFamily="34" charset="-120"/>
              </a:rPr>
              <a:t>Primary metric: Macro F1, so rare products count as much as the 51% class.</a:t>
            </a:r>
            <a:endParaRPr lang="en-US" sz="16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Current Methods</a:t>
            </a:r>
            <a:endParaRPr lang="en-US" sz="3000" dirty="0"/>
          </a:p>
        </p:txBody>
      </p:sp>
      <p:sp>
        <p:nvSpPr>
          <p:cNvPr id="4" name="Shape 1"/>
          <p:cNvSpPr/>
          <p:nvPr/>
        </p:nvSpPr>
        <p:spPr>
          <a:xfrm>
            <a:off x="457200" y="1188720"/>
            <a:ext cx="1874520" cy="822960"/>
          </a:xfrm>
          <a:prstGeom prst="rect">
            <a:avLst/>
          </a:prstGeom>
          <a:solidFill>
            <a:srgbClr val="EEF3F8"/>
          </a:solidFill>
          <a:ln w="12700">
            <a:solidFill>
              <a:srgbClr val="EEF3F8"/>
            </a:solidFill>
            <a:prstDash val="solid"/>
          </a:ln>
        </p:spPr>
      </p:sp>
      <p:sp>
        <p:nvSpPr>
          <p:cNvPr id="5" name="Text 2"/>
          <p:cNvSpPr txBox="1"/>
          <p:nvPr/>
        </p:nvSpPr>
        <p:spPr>
          <a:xfrm>
            <a:off x="548640" y="1188720"/>
            <a:ext cx="1691640" cy="822960"/>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Clean + de-duplicate</a:t>
            </a:r>
            <a:endParaRPr lang="en-US" sz="1400" dirty="0"/>
          </a:p>
        </p:txBody>
      </p:sp>
      <p:sp>
        <p:nvSpPr>
          <p:cNvPr id="6" name="Text 3"/>
          <p:cNvSpPr txBox="1"/>
          <p:nvPr/>
        </p:nvSpPr>
        <p:spPr>
          <a:xfrm>
            <a:off x="2331720" y="1188720"/>
            <a:ext cx="228600" cy="822960"/>
          </a:xfrm>
          <a:prstGeom prst="rect">
            <a:avLst/>
          </a:prstGeom>
          <a:noFill/>
          <a:ln/>
        </p:spPr>
        <p:txBody>
          <a:bodyPr wrap="square" lIns="0" tIns="0" rIns="0" bIns="0" rtlCol="0" anchor="ctr"/>
          <a:lstStyle/>
          <a:p>
            <a:pPr algn="ctr" indent="0" marL="0">
              <a:buNone/>
            </a:pPr>
            <a:r>
              <a:rPr lang="en-US" sz="2400" b="1" dirty="0">
                <a:solidFill>
                  <a:srgbClr val="9AA9BA"/>
                </a:solidFill>
                <a:latin typeface="Arial" pitchFamily="34" charset="0"/>
                <a:ea typeface="Arial" pitchFamily="34" charset="-122"/>
                <a:cs typeface="Arial" pitchFamily="34" charset="-120"/>
              </a:rPr>
              <a:t>›</a:t>
            </a:r>
            <a:endParaRPr lang="en-US" sz="2400" dirty="0"/>
          </a:p>
        </p:txBody>
      </p:sp>
      <p:sp>
        <p:nvSpPr>
          <p:cNvPr id="7" name="Shape 4"/>
          <p:cNvSpPr/>
          <p:nvPr/>
        </p:nvSpPr>
        <p:spPr>
          <a:xfrm>
            <a:off x="2560320" y="1188720"/>
            <a:ext cx="1874520" cy="822960"/>
          </a:xfrm>
          <a:prstGeom prst="rect">
            <a:avLst/>
          </a:prstGeom>
          <a:solidFill>
            <a:srgbClr val="EEF3F8"/>
          </a:solidFill>
          <a:ln w="12700">
            <a:solidFill>
              <a:srgbClr val="EEF3F8"/>
            </a:solidFill>
            <a:prstDash val="solid"/>
          </a:ln>
        </p:spPr>
      </p:sp>
      <p:sp>
        <p:nvSpPr>
          <p:cNvPr id="8" name="Text 5"/>
          <p:cNvSpPr txBox="1"/>
          <p:nvPr/>
        </p:nvSpPr>
        <p:spPr>
          <a:xfrm>
            <a:off x="2651760" y="1188720"/>
            <a:ext cx="1691640" cy="822960"/>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Group-aware split</a:t>
            </a:r>
            <a:endParaRPr lang="en-US" sz="1400" dirty="0"/>
          </a:p>
        </p:txBody>
      </p:sp>
      <p:sp>
        <p:nvSpPr>
          <p:cNvPr id="9" name="Text 6"/>
          <p:cNvSpPr txBox="1"/>
          <p:nvPr/>
        </p:nvSpPr>
        <p:spPr>
          <a:xfrm>
            <a:off x="4434840" y="1188720"/>
            <a:ext cx="228600" cy="822960"/>
          </a:xfrm>
          <a:prstGeom prst="rect">
            <a:avLst/>
          </a:prstGeom>
          <a:noFill/>
          <a:ln/>
        </p:spPr>
        <p:txBody>
          <a:bodyPr wrap="square" lIns="0" tIns="0" rIns="0" bIns="0" rtlCol="0" anchor="ctr"/>
          <a:lstStyle/>
          <a:p>
            <a:pPr algn="ctr" indent="0" marL="0">
              <a:buNone/>
            </a:pPr>
            <a:r>
              <a:rPr lang="en-US" sz="2400" b="1" dirty="0">
                <a:solidFill>
                  <a:srgbClr val="9AA9BA"/>
                </a:solidFill>
                <a:latin typeface="Arial" pitchFamily="34" charset="0"/>
                <a:ea typeface="Arial" pitchFamily="34" charset="-122"/>
                <a:cs typeface="Arial" pitchFamily="34" charset="-120"/>
              </a:rPr>
              <a:t>›</a:t>
            </a:r>
            <a:endParaRPr lang="en-US" sz="2400" dirty="0"/>
          </a:p>
        </p:txBody>
      </p:sp>
      <p:sp>
        <p:nvSpPr>
          <p:cNvPr id="10" name="Shape 7"/>
          <p:cNvSpPr/>
          <p:nvPr/>
        </p:nvSpPr>
        <p:spPr>
          <a:xfrm>
            <a:off x="4663440" y="1188720"/>
            <a:ext cx="1874520" cy="822960"/>
          </a:xfrm>
          <a:prstGeom prst="rect">
            <a:avLst/>
          </a:prstGeom>
          <a:solidFill>
            <a:srgbClr val="EEF3F8"/>
          </a:solidFill>
          <a:ln w="12700">
            <a:solidFill>
              <a:srgbClr val="EEF3F8"/>
            </a:solidFill>
            <a:prstDash val="solid"/>
          </a:ln>
        </p:spPr>
      </p:sp>
      <p:sp>
        <p:nvSpPr>
          <p:cNvPr id="11" name="Text 8"/>
          <p:cNvSpPr txBox="1"/>
          <p:nvPr/>
        </p:nvSpPr>
        <p:spPr>
          <a:xfrm>
            <a:off x="4754880" y="1188720"/>
            <a:ext cx="1691640" cy="822960"/>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TF-IDF (fit on train only)</a:t>
            </a:r>
            <a:endParaRPr lang="en-US" sz="1400" dirty="0"/>
          </a:p>
        </p:txBody>
      </p:sp>
      <p:sp>
        <p:nvSpPr>
          <p:cNvPr id="12" name="Text 9"/>
          <p:cNvSpPr txBox="1"/>
          <p:nvPr/>
        </p:nvSpPr>
        <p:spPr>
          <a:xfrm>
            <a:off x="6537960" y="1188720"/>
            <a:ext cx="228600" cy="822960"/>
          </a:xfrm>
          <a:prstGeom prst="rect">
            <a:avLst/>
          </a:prstGeom>
          <a:noFill/>
          <a:ln/>
        </p:spPr>
        <p:txBody>
          <a:bodyPr wrap="square" lIns="0" tIns="0" rIns="0" bIns="0" rtlCol="0" anchor="ctr"/>
          <a:lstStyle/>
          <a:p>
            <a:pPr algn="ctr" indent="0" marL="0">
              <a:buNone/>
            </a:pPr>
            <a:r>
              <a:rPr lang="en-US" sz="2400" b="1" dirty="0">
                <a:solidFill>
                  <a:srgbClr val="9AA9BA"/>
                </a:solidFill>
                <a:latin typeface="Arial" pitchFamily="34" charset="0"/>
                <a:ea typeface="Arial" pitchFamily="34" charset="-122"/>
                <a:cs typeface="Arial" pitchFamily="34" charset="-120"/>
              </a:rPr>
              <a:t>›</a:t>
            </a:r>
            <a:endParaRPr lang="en-US" sz="2400" dirty="0"/>
          </a:p>
        </p:txBody>
      </p:sp>
      <p:sp>
        <p:nvSpPr>
          <p:cNvPr id="13" name="Shape 10"/>
          <p:cNvSpPr/>
          <p:nvPr/>
        </p:nvSpPr>
        <p:spPr>
          <a:xfrm>
            <a:off x="6766560" y="1188720"/>
            <a:ext cx="1874520" cy="822960"/>
          </a:xfrm>
          <a:prstGeom prst="rect">
            <a:avLst/>
          </a:prstGeom>
          <a:solidFill>
            <a:srgbClr val="1F3A5F"/>
          </a:solidFill>
          <a:ln w="12700">
            <a:solidFill>
              <a:srgbClr val="1F3A5F"/>
            </a:solidFill>
            <a:prstDash val="solid"/>
          </a:ln>
        </p:spPr>
      </p:sp>
      <p:sp>
        <p:nvSpPr>
          <p:cNvPr id="14" name="Text 11"/>
          <p:cNvSpPr txBox="1"/>
          <p:nvPr/>
        </p:nvSpPr>
        <p:spPr>
          <a:xfrm>
            <a:off x="6858000" y="1188720"/>
            <a:ext cx="169164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Models, scored on validation</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2377440"/>
          <a:ext cx="8229600" cy="914400"/>
        </p:xfrm>
        <a:graphic>
          <a:graphicData uri="http://schemas.openxmlformats.org/drawingml/2006/table">
            <a:tbl>
              <a:tblPr/>
              <a:tblGrid>
                <a:gridCol w="1645920"/>
                <a:gridCol w="3108960"/>
                <a:gridCol w="3474720"/>
              </a:tblGrid>
              <a:tr h="457200">
                <a:tc>
                  <a:txBody>
                    <a:bodyPr/>
                    <a:lstStyle/>
                    <a:p>
                      <a:pPr indent="0" marL="0">
                        <a:buNone/>
                      </a:pPr>
                      <a:r>
                        <a:rPr lang="en-US" sz="1400" b="1" dirty="0">
                          <a:solidFill>
                            <a:srgbClr val="FFFFFF"/>
                          </a:solidFill>
                          <a:latin typeface="Arial" pitchFamily="34" charset="0"/>
                          <a:ea typeface="Arial" pitchFamily="34" charset="-122"/>
                          <a:cs typeface="Arial" pitchFamily="34" charset="-120"/>
                        </a:rPr>
                        <a:t>Stage</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Model</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Key hyperparameters</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F3A5F"/>
                    </a:solidFill>
                  </a:tcPr>
                </a:tc>
              </a:tr>
              <a:tr h="457200">
                <a:tc>
                  <a:txBody>
                    <a:bodyPr/>
                    <a:lstStyle/>
                    <a:p>
                      <a:pPr indent="0" marL="0">
                        <a:buNone/>
                      </a:pPr>
                      <a:r>
                        <a:rPr lang="en-US" sz="1400" b="1" dirty="0">
                          <a:solidFill>
                            <a:srgbClr val="1F3A5F"/>
                          </a:solidFill>
                          <a:latin typeface="Arial" pitchFamily="34" charset="0"/>
                          <a:ea typeface="Arial" pitchFamily="34" charset="-122"/>
                          <a:cs typeface="Arial" pitchFamily="34" charset="-120"/>
                        </a:rPr>
                        <a:t>Baseline</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595959"/>
                          </a:solidFill>
                          <a:latin typeface="Arial" pitchFamily="34" charset="0"/>
                          <a:ea typeface="Arial" pitchFamily="34" charset="-122"/>
                          <a:cs typeface="Arial" pitchFamily="34" charset="-120"/>
                        </a:rPr>
                        <a:t>Multinomial Naive Bayes</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595959"/>
                          </a:solidFill>
                          <a:latin typeface="Arial" pitchFamily="34" charset="0"/>
                          <a:ea typeface="Arial" pitchFamily="34" charset="-122"/>
                          <a:cs typeface="Arial" pitchFamily="34" charset="-120"/>
                        </a:rPr>
                        <a:t>Lidstone alpha = 0.03 (from 0.001 to 1)</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400" b="1" dirty="0">
                          <a:solidFill>
                            <a:srgbClr val="1F3A5F"/>
                          </a:solidFill>
                          <a:latin typeface="Arial" pitchFamily="34" charset="0"/>
                          <a:ea typeface="Arial" pitchFamily="34" charset="-122"/>
                          <a:cs typeface="Arial" pitchFamily="34" charset="-120"/>
                        </a:rPr>
                        <a:t>Intermediate</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595959"/>
                          </a:solidFill>
                          <a:latin typeface="Arial" pitchFamily="34" charset="0"/>
                          <a:ea typeface="Arial" pitchFamily="34" charset="-122"/>
                          <a:cs typeface="Arial" pitchFamily="34" charset="-120"/>
                        </a:rPr>
                        <a:t>k-NN, distance-weighted, brute force</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595959"/>
                          </a:solidFill>
                          <a:latin typeface="Arial" pitchFamily="34" charset="0"/>
                          <a:ea typeface="Arial" pitchFamily="34" charset="-122"/>
                          <a:cs typeface="Arial" pitchFamily="34" charset="-120"/>
                        </a:rPr>
                        <a:t>cosine or Euclidean, k in {1, 5, 15, 31}</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r h="457200">
                <a:tc>
                  <a:txBody>
                    <a:bodyPr/>
                    <a:lstStyle/>
                    <a:p>
                      <a:pPr indent="0" marL="0">
                        <a:buNone/>
                      </a:pPr>
                      <a:r>
                        <a:rPr lang="en-US" sz="1400" b="1" dirty="0">
                          <a:solidFill>
                            <a:srgbClr val="1F3A5F"/>
                          </a:solidFill>
                          <a:latin typeface="Arial" pitchFamily="34" charset="0"/>
                          <a:ea typeface="Arial" pitchFamily="34" charset="-122"/>
                          <a:cs typeface="Arial" pitchFamily="34" charset="-120"/>
                        </a:rPr>
                        <a:t>Main</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595959"/>
                          </a:solidFill>
                          <a:latin typeface="Arial" pitchFamily="34" charset="0"/>
                          <a:ea typeface="Arial" pitchFamily="34" charset="-122"/>
                          <a:cs typeface="Arial" pitchFamily="34" charset="-120"/>
                        </a:rPr>
                        <a:t>L2 Logistic Regression (lbfgs)</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595959"/>
                          </a:solidFill>
                          <a:latin typeface="Arial" pitchFamily="34" charset="0"/>
                          <a:ea typeface="Arial" pitchFamily="34" charset="-122"/>
                          <a:cs typeface="Arial" pitchFamily="34" charset="-120"/>
                        </a:rPr>
                        <a:t>C in {0.1, 1, 10, 100}, class weights on/off</a:t>
                      </a:r>
                      <a:endParaRPr lang="en-US" sz="1400" dirty="0">
                        <a:latin typeface="Arial" charset="0"/>
                        <a:ea typeface="Arial" charset="0"/>
                        <a:cs typeface="Arial"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r>
            </a:tbl>
          </a:graphicData>
        </a:graphic>
      </p:graphicFrame>
      <p:sp>
        <p:nvSpPr>
          <p:cNvPr id="16" name="Text 12"/>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Also: Stratified Random and Majority Class benchmarks. Python 3.14 + scikit-learn 1.9.1, seed 42.</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Theoretical Justification</a:t>
            </a:r>
            <a:endParaRPr lang="en-US" sz="3000" dirty="0"/>
          </a:p>
        </p:txBody>
      </p:sp>
      <p:sp>
        <p:nvSpPr>
          <p:cNvPr id="4" name="Shape 1"/>
          <p:cNvSpPr/>
          <p:nvPr/>
        </p:nvSpPr>
        <p:spPr>
          <a:xfrm>
            <a:off x="457200" y="1143000"/>
            <a:ext cx="2651760" cy="2743200"/>
          </a:xfrm>
          <a:prstGeom prst="rect">
            <a:avLst/>
          </a:prstGeom>
          <a:solidFill>
            <a:srgbClr val="EEF3F8"/>
          </a:solidFill>
          <a:ln w="12700">
            <a:solidFill>
              <a:srgbClr val="EEF3F8"/>
            </a:solidFill>
            <a:prstDash val="solid"/>
          </a:ln>
        </p:spPr>
      </p:sp>
      <p:sp>
        <p:nvSpPr>
          <p:cNvPr id="5" name="Text 2"/>
          <p:cNvSpPr txBox="1"/>
          <p:nvPr/>
        </p:nvSpPr>
        <p:spPr>
          <a:xfrm>
            <a:off x="594360" y="1234440"/>
            <a:ext cx="2377440" cy="365760"/>
          </a:xfrm>
          <a:prstGeom prst="rect">
            <a:avLst/>
          </a:prstGeom>
          <a:noFill/>
          <a:ln/>
        </p:spPr>
        <p:txBody>
          <a:bodyPr wrap="square" lIns="0" tIns="0" rIns="0" bIns="0" rtlCol="0" anchor="ctr"/>
          <a:lstStyle/>
          <a:p>
            <a:pPr indent="0" marL="0">
              <a:buNone/>
            </a:pPr>
            <a:r>
              <a:rPr lang="en-US" sz="1800" b="1" dirty="0">
                <a:solidFill>
                  <a:srgbClr val="1F3A5F"/>
                </a:solidFill>
                <a:latin typeface="Arial" pitchFamily="34" charset="0"/>
                <a:ea typeface="Arial" pitchFamily="34" charset="-122"/>
                <a:cs typeface="Arial" pitchFamily="34" charset="-120"/>
              </a:rPr>
              <a:t>Naive Bayes</a:t>
            </a:r>
            <a:endParaRPr lang="en-US" sz="1800" dirty="0"/>
          </a:p>
        </p:txBody>
      </p:sp>
      <p:sp>
        <p:nvSpPr>
          <p:cNvPr id="6" name="Text 3"/>
          <p:cNvSpPr txBox="1"/>
          <p:nvPr/>
        </p:nvSpPr>
        <p:spPr>
          <a:xfrm>
            <a:off x="594360" y="1600200"/>
            <a:ext cx="2377440" cy="274320"/>
          </a:xfrm>
          <a:prstGeom prst="rect">
            <a:avLst/>
          </a:prstGeom>
          <a:noFill/>
          <a:ln/>
        </p:spPr>
        <p:txBody>
          <a:bodyPr wrap="square" lIns="0" tIns="0" rIns="0" bIns="0" rtlCol="0" anchor="ctr"/>
          <a:lstStyle/>
          <a:p>
            <a:pPr indent="0" marL="0">
              <a:buNone/>
            </a:pPr>
            <a:r>
              <a:rPr lang="en-US" sz="1200" i="1" dirty="0">
                <a:solidFill>
                  <a:srgbClr val="1B7F8C"/>
                </a:solidFill>
                <a:latin typeface="Arial" pitchFamily="34" charset="0"/>
                <a:ea typeface="Arial" pitchFamily="34" charset="-122"/>
                <a:cs typeface="Arial" pitchFamily="34" charset="-120"/>
              </a:rPr>
              <a:t>Generative</a:t>
            </a:r>
            <a:endParaRPr lang="en-US" sz="1200" dirty="0"/>
          </a:p>
        </p:txBody>
      </p:sp>
      <p:sp>
        <p:nvSpPr>
          <p:cNvPr id="7" name="Text 4"/>
          <p:cNvSpPr txBox="1"/>
          <p:nvPr/>
        </p:nvSpPr>
        <p:spPr>
          <a:xfrm>
            <a:off x="594360" y="1965960"/>
            <a:ext cx="2377440" cy="59436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P(c|x) ∝ P(c) ∏ P(w|c)^x_w</a:t>
            </a:r>
            <a:endParaRPr lang="en-US" sz="1300" dirty="0"/>
          </a:p>
        </p:txBody>
      </p:sp>
      <p:sp>
        <p:nvSpPr>
          <p:cNvPr id="8" name="Text 5"/>
          <p:cNvSpPr txBox="1"/>
          <p:nvPr/>
        </p:nvSpPr>
        <p:spPr>
          <a:xfrm>
            <a:off x="594360" y="2606040"/>
            <a:ext cx="2377440" cy="1188720"/>
          </a:xfrm>
          <a:prstGeom prst="rect">
            <a:avLst/>
          </a:prstGeom>
          <a:noFill/>
          <a:ln/>
        </p:spPr>
        <p:txBody>
          <a:bodyPr wrap="square" lIns="0" tIns="0" rIns="0" bIns="0" rtlCol="0" anchor="t"/>
          <a:lstStyle/>
          <a:p>
            <a:pPr indent="0" marL="0">
              <a:buNone/>
            </a:pPr>
            <a:r>
              <a:rPr lang="en-US" sz="1300" dirty="0">
                <a:solidFill>
                  <a:srgbClr val="595959"/>
                </a:solidFill>
                <a:latin typeface="Arial" pitchFamily="34" charset="0"/>
                <a:ea typeface="Arial" pitchFamily="34" charset="-122"/>
                <a:cs typeface="Arial" pitchFamily="34" charset="-120"/>
              </a:rPr>
              <a:t>Smoothed estimates; fast; independence assumption is false but works for text (Rennie 2003).</a:t>
            </a:r>
            <a:endParaRPr lang="en-US" sz="1300" dirty="0"/>
          </a:p>
        </p:txBody>
      </p:sp>
      <p:sp>
        <p:nvSpPr>
          <p:cNvPr id="9" name="Shape 6"/>
          <p:cNvSpPr/>
          <p:nvPr/>
        </p:nvSpPr>
        <p:spPr>
          <a:xfrm>
            <a:off x="3246120" y="1143000"/>
            <a:ext cx="2651760" cy="2743200"/>
          </a:xfrm>
          <a:prstGeom prst="rect">
            <a:avLst/>
          </a:prstGeom>
          <a:solidFill>
            <a:srgbClr val="EEF3F8"/>
          </a:solidFill>
          <a:ln w="12700">
            <a:solidFill>
              <a:srgbClr val="EEF3F8"/>
            </a:solidFill>
            <a:prstDash val="solid"/>
          </a:ln>
        </p:spPr>
      </p:sp>
      <p:sp>
        <p:nvSpPr>
          <p:cNvPr id="10" name="Text 7"/>
          <p:cNvSpPr txBox="1"/>
          <p:nvPr/>
        </p:nvSpPr>
        <p:spPr>
          <a:xfrm>
            <a:off x="3383280" y="1234440"/>
            <a:ext cx="2377440" cy="365760"/>
          </a:xfrm>
          <a:prstGeom prst="rect">
            <a:avLst/>
          </a:prstGeom>
          <a:noFill/>
          <a:ln/>
        </p:spPr>
        <p:txBody>
          <a:bodyPr wrap="square" lIns="0" tIns="0" rIns="0" bIns="0" rtlCol="0" anchor="ctr"/>
          <a:lstStyle/>
          <a:p>
            <a:pPr indent="0" marL="0">
              <a:buNone/>
            </a:pPr>
            <a:r>
              <a:rPr lang="en-US" sz="1800" b="1" dirty="0">
                <a:solidFill>
                  <a:srgbClr val="1F3A5F"/>
                </a:solidFill>
                <a:latin typeface="Arial" pitchFamily="34" charset="0"/>
                <a:ea typeface="Arial" pitchFamily="34" charset="-122"/>
                <a:cs typeface="Arial" pitchFamily="34" charset="-120"/>
              </a:rPr>
              <a:t>Logistic Regression</a:t>
            </a:r>
            <a:endParaRPr lang="en-US" sz="1800" dirty="0"/>
          </a:p>
        </p:txBody>
      </p:sp>
      <p:sp>
        <p:nvSpPr>
          <p:cNvPr id="11" name="Text 8"/>
          <p:cNvSpPr txBox="1"/>
          <p:nvPr/>
        </p:nvSpPr>
        <p:spPr>
          <a:xfrm>
            <a:off x="3383280" y="1600200"/>
            <a:ext cx="2377440" cy="274320"/>
          </a:xfrm>
          <a:prstGeom prst="rect">
            <a:avLst/>
          </a:prstGeom>
          <a:noFill/>
          <a:ln/>
        </p:spPr>
        <p:txBody>
          <a:bodyPr wrap="square" lIns="0" tIns="0" rIns="0" bIns="0" rtlCol="0" anchor="ctr"/>
          <a:lstStyle/>
          <a:p>
            <a:pPr indent="0" marL="0">
              <a:buNone/>
            </a:pPr>
            <a:r>
              <a:rPr lang="en-US" sz="1200" i="1" dirty="0">
                <a:solidFill>
                  <a:srgbClr val="1B7F8C"/>
                </a:solidFill>
                <a:latin typeface="Arial" pitchFamily="34" charset="0"/>
                <a:ea typeface="Arial" pitchFamily="34" charset="-122"/>
                <a:cs typeface="Arial" pitchFamily="34" charset="-120"/>
              </a:rPr>
              <a:t>Discriminative</a:t>
            </a:r>
            <a:endParaRPr lang="en-US" sz="1200" dirty="0"/>
          </a:p>
        </p:txBody>
      </p:sp>
      <p:sp>
        <p:nvSpPr>
          <p:cNvPr id="12" name="Text 9"/>
          <p:cNvSpPr txBox="1"/>
          <p:nvPr/>
        </p:nvSpPr>
        <p:spPr>
          <a:xfrm>
            <a:off x="3383280" y="1965960"/>
            <a:ext cx="2377440" cy="59436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softmax + cross-entropy + L2</a:t>
            </a:r>
            <a:endParaRPr lang="en-US" sz="1300" dirty="0"/>
          </a:p>
        </p:txBody>
      </p:sp>
      <p:sp>
        <p:nvSpPr>
          <p:cNvPr id="13" name="Text 10"/>
          <p:cNvSpPr txBox="1"/>
          <p:nvPr/>
        </p:nvSpPr>
        <p:spPr>
          <a:xfrm>
            <a:off x="3383280" y="2606040"/>
            <a:ext cx="2377440" cy="1188720"/>
          </a:xfrm>
          <a:prstGeom prst="rect">
            <a:avLst/>
          </a:prstGeom>
          <a:noFill/>
          <a:ln/>
        </p:spPr>
        <p:txBody>
          <a:bodyPr wrap="square" lIns="0" tIns="0" rIns="0" bIns="0" rtlCol="0" anchor="t"/>
          <a:lstStyle/>
          <a:p>
            <a:pPr indent="0" marL="0">
              <a:buNone/>
            </a:pPr>
            <a:r>
              <a:rPr lang="en-US" sz="1300" dirty="0">
                <a:solidFill>
                  <a:srgbClr val="595959"/>
                </a:solidFill>
                <a:latin typeface="Arial" pitchFamily="34" charset="0"/>
                <a:ea typeface="Arial" pitchFamily="34" charset="-122"/>
                <a:cs typeface="Arial" pitchFamily="34" charset="-120"/>
              </a:rPr>
              <a:t>Convex, deterministic, models correlated words; lower asymptotic error (Ng and Jordan 2002).</a:t>
            </a:r>
            <a:endParaRPr lang="en-US" sz="1300" dirty="0"/>
          </a:p>
        </p:txBody>
      </p:sp>
      <p:sp>
        <p:nvSpPr>
          <p:cNvPr id="14" name="Shape 11"/>
          <p:cNvSpPr/>
          <p:nvPr/>
        </p:nvSpPr>
        <p:spPr>
          <a:xfrm>
            <a:off x="6035040" y="1143000"/>
            <a:ext cx="2651760" cy="2743200"/>
          </a:xfrm>
          <a:prstGeom prst="rect">
            <a:avLst/>
          </a:prstGeom>
          <a:solidFill>
            <a:srgbClr val="EEF3F8"/>
          </a:solidFill>
          <a:ln w="12700">
            <a:solidFill>
              <a:srgbClr val="EEF3F8"/>
            </a:solidFill>
            <a:prstDash val="solid"/>
          </a:ln>
        </p:spPr>
      </p:sp>
      <p:sp>
        <p:nvSpPr>
          <p:cNvPr id="15" name="Text 12"/>
          <p:cNvSpPr txBox="1"/>
          <p:nvPr/>
        </p:nvSpPr>
        <p:spPr>
          <a:xfrm>
            <a:off x="6172200" y="1234440"/>
            <a:ext cx="2377440" cy="365760"/>
          </a:xfrm>
          <a:prstGeom prst="rect">
            <a:avLst/>
          </a:prstGeom>
          <a:noFill/>
          <a:ln/>
        </p:spPr>
        <p:txBody>
          <a:bodyPr wrap="square" lIns="0" tIns="0" rIns="0" bIns="0" rtlCol="0" anchor="ctr"/>
          <a:lstStyle/>
          <a:p>
            <a:pPr indent="0" marL="0">
              <a:buNone/>
            </a:pPr>
            <a:r>
              <a:rPr lang="en-US" sz="1800" b="1" dirty="0">
                <a:solidFill>
                  <a:srgbClr val="1F3A5F"/>
                </a:solidFill>
                <a:latin typeface="Arial" pitchFamily="34" charset="0"/>
                <a:ea typeface="Arial" pitchFamily="34" charset="-122"/>
                <a:cs typeface="Arial" pitchFamily="34" charset="-120"/>
              </a:rPr>
              <a:t>k-NN</a:t>
            </a:r>
            <a:endParaRPr lang="en-US" sz="1800" dirty="0"/>
          </a:p>
        </p:txBody>
      </p:sp>
      <p:sp>
        <p:nvSpPr>
          <p:cNvPr id="16" name="Text 13"/>
          <p:cNvSpPr txBox="1"/>
          <p:nvPr/>
        </p:nvSpPr>
        <p:spPr>
          <a:xfrm>
            <a:off x="6172200" y="1600200"/>
            <a:ext cx="2377440" cy="274320"/>
          </a:xfrm>
          <a:prstGeom prst="rect">
            <a:avLst/>
          </a:prstGeom>
          <a:noFill/>
          <a:ln/>
        </p:spPr>
        <p:txBody>
          <a:bodyPr wrap="square" lIns="0" tIns="0" rIns="0" bIns="0" rtlCol="0" anchor="ctr"/>
          <a:lstStyle/>
          <a:p>
            <a:pPr indent="0" marL="0">
              <a:buNone/>
            </a:pPr>
            <a:r>
              <a:rPr lang="en-US" sz="1200" i="1" dirty="0">
                <a:solidFill>
                  <a:srgbClr val="1B7F8C"/>
                </a:solidFill>
                <a:latin typeface="Arial" pitchFamily="34" charset="0"/>
                <a:ea typeface="Arial" pitchFamily="34" charset="-122"/>
                <a:cs typeface="Arial" pitchFamily="34" charset="-120"/>
              </a:rPr>
              <a:t>Non-parametric</a:t>
            </a:r>
            <a:endParaRPr lang="en-US" sz="1200" dirty="0"/>
          </a:p>
        </p:txBody>
      </p:sp>
      <p:sp>
        <p:nvSpPr>
          <p:cNvPr id="17" name="Text 14"/>
          <p:cNvSpPr txBox="1"/>
          <p:nvPr/>
        </p:nvSpPr>
        <p:spPr>
          <a:xfrm>
            <a:off x="6172200" y="1965960"/>
            <a:ext cx="2377440" cy="594360"/>
          </a:xfrm>
          <a:prstGeom prst="rect">
            <a:avLst/>
          </a:prstGeom>
          <a:noFill/>
          <a:ln/>
        </p:spPr>
        <p:txBody>
          <a:bodyPr wrap="square" lIns="0" tIns="0" rIns="0" bIns="0" rtlCol="0" anchor="t"/>
          <a:lstStyle/>
          <a:p>
            <a:pPr indent="0" marL="0">
              <a:buNone/>
            </a:pPr>
            <a:r>
              <a:rPr lang="en-US" sz="1300" b="1" dirty="0">
                <a:solidFill>
                  <a:srgbClr val="111111"/>
                </a:solidFill>
                <a:latin typeface="Arial" pitchFamily="34" charset="0"/>
                <a:ea typeface="Arial" pitchFamily="34" charset="-122"/>
                <a:cs typeface="Arial" pitchFamily="34" charset="-120"/>
              </a:rPr>
              <a:t>cosine similarity on TF-IDF</a:t>
            </a:r>
            <a:endParaRPr lang="en-US" sz="1300" dirty="0"/>
          </a:p>
        </p:txBody>
      </p:sp>
      <p:sp>
        <p:nvSpPr>
          <p:cNvPr id="18" name="Text 15"/>
          <p:cNvSpPr txBox="1"/>
          <p:nvPr/>
        </p:nvSpPr>
        <p:spPr>
          <a:xfrm>
            <a:off x="6172200" y="2606040"/>
            <a:ext cx="2377440" cy="1188720"/>
          </a:xfrm>
          <a:prstGeom prst="rect">
            <a:avLst/>
          </a:prstGeom>
          <a:noFill/>
          <a:ln/>
        </p:spPr>
        <p:txBody>
          <a:bodyPr wrap="square" lIns="0" tIns="0" rIns="0" bIns="0" rtlCol="0" anchor="t"/>
          <a:lstStyle/>
          <a:p>
            <a:pPr indent="0" marL="0">
              <a:buNone/>
            </a:pPr>
            <a:r>
              <a:rPr lang="en-US" sz="1300" dirty="0">
                <a:solidFill>
                  <a:srgbClr val="595959"/>
                </a:solidFill>
                <a:latin typeface="Arial" pitchFamily="34" charset="0"/>
                <a:ea typeface="Arial" pitchFamily="34" charset="-122"/>
                <a:cs typeface="Arial" pitchFamily="34" charset="-120"/>
              </a:rPr>
              <a:t>No model assumption; error at most 2x Bayes (Cover and Hart 1967); sees only shared words.</a:t>
            </a:r>
            <a:endParaRPr lang="en-US" sz="1300" dirty="0"/>
          </a:p>
        </p:txBody>
      </p:sp>
      <p:sp>
        <p:nvSpPr>
          <p:cNvPr id="19" name="Text 16"/>
          <p:cNvSpPr txBox="1"/>
          <p:nvPr/>
        </p:nvSpPr>
        <p:spPr>
          <a:xfrm>
            <a:off x="457200" y="4114800"/>
            <a:ext cx="8229600" cy="365760"/>
          </a:xfrm>
          <a:prstGeom prst="rect">
            <a:avLst/>
          </a:prstGeom>
          <a:noFill/>
          <a:ln/>
        </p:spPr>
        <p:txBody>
          <a:bodyPr wrap="square" lIns="0" tIns="0" rIns="0" bIns="0" rtlCol="0" anchor="ctr"/>
          <a:lstStyle/>
          <a:p>
            <a:pPr algn="ctr" indent="0" marL="0">
              <a:buNone/>
            </a:pPr>
            <a:r>
              <a:rPr lang="en-US" sz="1600" b="1" dirty="0">
                <a:solidFill>
                  <a:srgbClr val="1F3A5F"/>
                </a:solidFill>
                <a:latin typeface="Arial" pitchFamily="34" charset="0"/>
                <a:ea typeface="Arial" pitchFamily="34" charset="-122"/>
                <a:cs typeface="Arial" pitchFamily="34" charset="-120"/>
              </a:rPr>
              <a:t>Metric: Macro F1. Chance level for a stratified guesser is 1/K = 0.091.</a:t>
            </a:r>
            <a:endParaRPr lang="en-US" sz="16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Preliminary Results: Macro F1</a:t>
            </a:r>
            <a:endParaRPr lang="en-US" sz="3000" dirty="0"/>
          </a:p>
        </p:txBody>
      </p:sp>
      <p:graphicFrame>
        <p:nvGraphicFramePr>
          <p:cNvPr id="4" name="Chart 0" descr=""/>
          <p:cNvGraphicFramePr/>
          <p:nvPr/>
        </p:nvGraphicFramePr>
        <p:xfrm>
          <a:off x="365760" y="1051560"/>
          <a:ext cx="5669280" cy="356616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6263640" y="1188720"/>
            <a:ext cx="2423160" cy="1463040"/>
          </a:xfrm>
          <a:prstGeom prst="rect">
            <a:avLst/>
          </a:prstGeom>
          <a:solidFill>
            <a:srgbClr val="EEF3F8"/>
          </a:solidFill>
          <a:ln w="12700">
            <a:solidFill>
              <a:srgbClr val="EEF3F8"/>
            </a:solidFill>
            <a:prstDash val="solid"/>
          </a:ln>
        </p:spPr>
      </p:sp>
      <p:sp>
        <p:nvSpPr>
          <p:cNvPr id="6" name="Text 2"/>
          <p:cNvSpPr txBox="1"/>
          <p:nvPr/>
        </p:nvSpPr>
        <p:spPr>
          <a:xfrm>
            <a:off x="6263640" y="1261872"/>
            <a:ext cx="2423160" cy="640080"/>
          </a:xfrm>
          <a:prstGeom prst="rect">
            <a:avLst/>
          </a:prstGeom>
          <a:noFill/>
          <a:ln/>
        </p:spPr>
        <p:txBody>
          <a:bodyPr wrap="square" lIns="0" tIns="0" rIns="0" bIns="0" rtlCol="0" anchor="ctr"/>
          <a:lstStyle/>
          <a:p>
            <a:pPr algn="ctr" indent="0" marL="0">
              <a:buNone/>
            </a:pPr>
            <a:r>
              <a:rPr lang="en-US" sz="3600" b="1" dirty="0">
                <a:solidFill>
                  <a:srgbClr val="C0392B"/>
                </a:solidFill>
                <a:latin typeface="Arial" pitchFamily="34" charset="0"/>
                <a:ea typeface="Arial" pitchFamily="34" charset="-122"/>
                <a:cs typeface="Arial" pitchFamily="34" charset="-120"/>
              </a:rPr>
              <a:t>+0.058</a:t>
            </a:r>
            <a:endParaRPr lang="en-US" sz="3600" dirty="0"/>
          </a:p>
        </p:txBody>
      </p:sp>
      <p:sp>
        <p:nvSpPr>
          <p:cNvPr id="7" name="Text 3"/>
          <p:cNvSpPr txBox="1"/>
          <p:nvPr/>
        </p:nvSpPr>
        <p:spPr>
          <a:xfrm>
            <a:off x="6355080" y="1920240"/>
            <a:ext cx="2240280" cy="640080"/>
          </a:xfrm>
          <a:prstGeom prst="rect">
            <a:avLst/>
          </a:prstGeom>
          <a:noFill/>
          <a:ln/>
        </p:spPr>
        <p:txBody>
          <a:bodyPr wrap="square" lIns="0" tIns="0" rIns="0" bIns="0" rtlCol="0" anchor="ctr"/>
          <a:lstStyle/>
          <a:p>
            <a:pPr algn="ctr" indent="0" marL="0">
              <a:buNone/>
            </a:pPr>
            <a:r>
              <a:rPr lang="en-US" sz="1300" dirty="0">
                <a:solidFill>
                  <a:srgbClr val="595959"/>
                </a:solidFill>
                <a:latin typeface="Arial" pitchFamily="34" charset="0"/>
                <a:ea typeface="Arial" pitchFamily="34" charset="-122"/>
                <a:cs typeface="Arial" pitchFamily="34" charset="-120"/>
              </a:rPr>
              <a:t>LR over Naive Bayes</a:t>
            </a:r>
            <a:endParaRPr lang="en-US" sz="1300" dirty="0"/>
          </a:p>
          <a:p>
            <a:pPr algn="ctr" indent="0" marL="0">
              <a:buNone/>
            </a:pPr>
            <a:r>
              <a:rPr lang="en-US" sz="1300" dirty="0">
                <a:solidFill>
                  <a:srgbClr val="595959"/>
                </a:solidFill>
                <a:latin typeface="Arial" pitchFamily="34" charset="0"/>
                <a:ea typeface="Arial" pitchFamily="34" charset="-122"/>
                <a:cs typeface="Arial" pitchFamily="34" charset="-120"/>
              </a:rPr>
              <a:t>95% CI +0.044 to +0.072</a:t>
            </a:r>
            <a:endParaRPr lang="en-US" sz="1300" dirty="0"/>
          </a:p>
        </p:txBody>
      </p:sp>
      <p:sp>
        <p:nvSpPr>
          <p:cNvPr id="8" name="Shape 4"/>
          <p:cNvSpPr/>
          <p:nvPr/>
        </p:nvSpPr>
        <p:spPr>
          <a:xfrm>
            <a:off x="6263640" y="2834640"/>
            <a:ext cx="2423160" cy="1463040"/>
          </a:xfrm>
          <a:prstGeom prst="rect">
            <a:avLst/>
          </a:prstGeom>
          <a:solidFill>
            <a:srgbClr val="EEF3F8"/>
          </a:solidFill>
          <a:ln w="12700">
            <a:solidFill>
              <a:srgbClr val="EEF3F8"/>
            </a:solidFill>
            <a:prstDash val="solid"/>
          </a:ln>
        </p:spPr>
      </p:sp>
      <p:sp>
        <p:nvSpPr>
          <p:cNvPr id="9" name="Text 5"/>
          <p:cNvSpPr txBox="1"/>
          <p:nvPr/>
        </p:nvSpPr>
        <p:spPr>
          <a:xfrm>
            <a:off x="6263640" y="2907792"/>
            <a:ext cx="2423160" cy="640080"/>
          </a:xfrm>
          <a:prstGeom prst="rect">
            <a:avLst/>
          </a:prstGeom>
          <a:noFill/>
          <a:ln/>
        </p:spPr>
        <p:txBody>
          <a:bodyPr wrap="square" lIns="0" tIns="0" rIns="0" bIns="0" rtlCol="0" anchor="ctr"/>
          <a:lstStyle/>
          <a:p>
            <a:pPr algn="ctr" indent="0" marL="0">
              <a:buNone/>
            </a:pPr>
            <a:r>
              <a:rPr lang="en-US" sz="3600" b="1" dirty="0">
                <a:solidFill>
                  <a:srgbClr val="1B7F8C"/>
                </a:solidFill>
                <a:latin typeface="Arial" pitchFamily="34" charset="0"/>
                <a:ea typeface="Arial" pitchFamily="34" charset="-122"/>
                <a:cs typeface="Arial" pitchFamily="34" charset="-120"/>
              </a:rPr>
              <a:t>−0.002</a:t>
            </a:r>
            <a:endParaRPr lang="en-US" sz="3600" dirty="0"/>
          </a:p>
        </p:txBody>
      </p:sp>
      <p:sp>
        <p:nvSpPr>
          <p:cNvPr id="10" name="Text 6"/>
          <p:cNvSpPr txBox="1"/>
          <p:nvPr/>
        </p:nvSpPr>
        <p:spPr>
          <a:xfrm>
            <a:off x="6355080" y="3566160"/>
            <a:ext cx="2240280" cy="640080"/>
          </a:xfrm>
          <a:prstGeom prst="rect">
            <a:avLst/>
          </a:prstGeom>
          <a:noFill/>
          <a:ln/>
        </p:spPr>
        <p:txBody>
          <a:bodyPr wrap="square" lIns="0" tIns="0" rIns="0" bIns="0" rtlCol="0" anchor="ctr"/>
          <a:lstStyle/>
          <a:p>
            <a:pPr algn="ctr" indent="0" marL="0">
              <a:buNone/>
            </a:pPr>
            <a:r>
              <a:rPr lang="en-US" sz="1300" dirty="0">
                <a:solidFill>
                  <a:srgbClr val="595959"/>
                </a:solidFill>
                <a:latin typeface="Arial" pitchFamily="34" charset="0"/>
                <a:ea typeface="Arial" pitchFamily="34" charset="-122"/>
                <a:cs typeface="Arial" pitchFamily="34" charset="-120"/>
              </a:rPr>
              <a:t>k-NN vs Naive Bayes</a:t>
            </a:r>
            <a:endParaRPr lang="en-US" sz="1300" dirty="0"/>
          </a:p>
          <a:p>
            <a:pPr algn="ctr" indent="0" marL="0">
              <a:buNone/>
            </a:pPr>
            <a:r>
              <a:rPr lang="en-US" sz="1300" dirty="0">
                <a:solidFill>
                  <a:srgbClr val="595959"/>
                </a:solidFill>
                <a:latin typeface="Arial" pitchFamily="34" charset="0"/>
                <a:ea typeface="Arial" pitchFamily="34" charset="-122"/>
                <a:cs typeface="Arial" pitchFamily="34" charset="-120"/>
              </a:rPr>
              <a:t>CI −0.014 to +0.010: a tie</a:t>
            </a:r>
            <a:endParaRPr lang="en-US" sz="13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Rare Classes Are the Bottleneck</a:t>
            </a:r>
            <a:endParaRPr lang="en-US" sz="3000" dirty="0"/>
          </a:p>
        </p:txBody>
      </p:sp>
      <p:graphicFrame>
        <p:nvGraphicFramePr>
          <p:cNvPr id="4" name="Chart 0" descr=""/>
          <p:cNvGraphicFramePr/>
          <p:nvPr/>
        </p:nvGraphicFramePr>
        <p:xfrm>
          <a:off x="365760" y="1005840"/>
          <a:ext cx="8412480" cy="31546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4251960"/>
            <a:ext cx="8229600" cy="274320"/>
          </a:xfrm>
          <a:prstGeom prst="rect">
            <a:avLst/>
          </a:prstGeom>
          <a:noFill/>
          <a:ln/>
        </p:spPr>
        <p:txBody>
          <a:bodyPr wrap="square" lIns="0" tIns="0" rIns="0" bIns="0" rtlCol="0" anchor="ctr"/>
          <a:lstStyle/>
          <a:p>
            <a:pPr algn="ctr" indent="0" marL="0">
              <a:buNone/>
            </a:pPr>
            <a:r>
              <a:rPr lang="en-US" sz="1200" i="1" dirty="0">
                <a:solidFill>
                  <a:srgbClr val="595959"/>
                </a:solidFill>
                <a:latin typeface="Arial" pitchFamily="34" charset="0"/>
                <a:ea typeface="Arial" pitchFamily="34" charset="-122"/>
                <a:cs typeface="Arial" pitchFamily="34" charset="-120"/>
              </a:rPr>
              <a:t>Validation recall per product, ordered by class size (largest left). Debt/credit mgmt has 69 validation rows.</a:t>
            </a:r>
            <a:endParaRPr lang="en-US" sz="1200" dirty="0"/>
          </a:p>
        </p:txBody>
      </p:sp>
      <p:sp>
        <p:nvSpPr>
          <p:cNvPr id="6" name="Text 2"/>
          <p:cNvSpPr txBox="1"/>
          <p:nvPr/>
        </p:nvSpPr>
        <p:spPr>
          <a:xfrm>
            <a:off x="457200" y="4526280"/>
            <a:ext cx="8229600" cy="274320"/>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Biggest confusion: Debt collection ↔ Credit reporting (444 + 316 errors)</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Finding: Euclidean k-NN Collapsed, and Why</a:t>
            </a:r>
            <a:endParaRPr lang="en-US" sz="3000" dirty="0"/>
          </a:p>
        </p:txBody>
      </p:sp>
      <p:graphicFrame>
        <p:nvGraphicFramePr>
          <p:cNvPr id="4" name="Chart 0" descr=""/>
          <p:cNvGraphicFramePr/>
          <p:nvPr/>
        </p:nvGraphicFramePr>
        <p:xfrm>
          <a:off x="365760" y="1051560"/>
          <a:ext cx="4937760" cy="329184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0" y="1188720"/>
            <a:ext cx="329184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Unit vectors: |a−b|² = 2 − 2cos(a, b), so the two metrics should agree.</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11 empty training rows (0.02%) sit at distance 1 from everything and win for low-similarity queries.</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Remove them: Euclidean 0.099 → 0.621, agreement with cosine 99.6%.</a:t>
            </a:r>
            <a:endParaRPr lang="en-US" sz="1400" dirty="0"/>
          </a:p>
        </p:txBody>
      </p:sp>
      <p:sp>
        <p:nvSpPr>
          <p:cNvPr id="6" name="Shape 2"/>
          <p:cNvSpPr/>
          <p:nvPr/>
        </p:nvSpPr>
        <p:spPr>
          <a:xfrm>
            <a:off x="5486400" y="3840480"/>
            <a:ext cx="3200400" cy="548640"/>
          </a:xfrm>
          <a:prstGeom prst="rect">
            <a:avLst/>
          </a:prstGeom>
          <a:solidFill>
            <a:srgbClr val="1F3A5F"/>
          </a:solidFill>
          <a:ln w="12700">
            <a:solidFill>
              <a:srgbClr val="1F3A5F"/>
            </a:solidFill>
            <a:prstDash val="solid"/>
          </a:ln>
        </p:spPr>
      </p:sp>
      <p:sp>
        <p:nvSpPr>
          <p:cNvPr id="7" name="Text 3"/>
          <p:cNvSpPr txBox="1"/>
          <p:nvPr/>
        </p:nvSpPr>
        <p:spPr>
          <a:xfrm>
            <a:off x="5486400" y="3840480"/>
            <a:ext cx="32004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Use cosine; guard empty vectors</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Generalisation: Learning Curve</a:t>
            </a:r>
            <a:endParaRPr lang="en-US" sz="3000" dirty="0"/>
          </a:p>
        </p:txBody>
      </p:sp>
      <p:graphicFrame>
        <p:nvGraphicFramePr>
          <p:cNvPr id="4" name="Chart 0" descr=""/>
          <p:cNvGraphicFramePr/>
          <p:nvPr/>
        </p:nvGraphicFramePr>
        <p:xfrm>
          <a:off x="365760" y="1051560"/>
          <a:ext cx="5303520" cy="338328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852160" y="1188720"/>
            <a:ext cx="2926080" cy="31089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Validation still rising at 68k rows for both models.</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LR is ahead at every training size.</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LR train 0.925 vs val 0.682: high variance (gap 0.24).</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C = 1 ties on validation (0.681) with a gap of only 0.08, so both go to M5.</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Deviations and Blockers</a:t>
            </a:r>
            <a:endParaRPr lang="en-US" sz="3000" dirty="0"/>
          </a:p>
        </p:txBody>
      </p:sp>
      <p:sp>
        <p:nvSpPr>
          <p:cNvPr id="4" name="Shape 1"/>
          <p:cNvSpPr/>
          <p:nvPr/>
        </p:nvSpPr>
        <p:spPr>
          <a:xfrm>
            <a:off x="457200" y="1097280"/>
            <a:ext cx="4023360" cy="457200"/>
          </a:xfrm>
          <a:prstGeom prst="rect">
            <a:avLst/>
          </a:prstGeom>
          <a:solidFill>
            <a:srgbClr val="1F3A5F"/>
          </a:solidFill>
          <a:ln w="12700">
            <a:solidFill>
              <a:srgbClr val="1F3A5F"/>
            </a:solidFill>
            <a:prstDash val="solid"/>
          </a:ln>
        </p:spPr>
      </p:sp>
      <p:sp>
        <p:nvSpPr>
          <p:cNvPr id="5" name="Text 2"/>
          <p:cNvSpPr txBox="1"/>
          <p:nvPr/>
        </p:nvSpPr>
        <p:spPr>
          <a:xfrm>
            <a:off x="457200" y="1097280"/>
            <a:ext cx="4023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Deviations from plan</a:t>
            </a:r>
            <a:endParaRPr lang="en-US" sz="1600" dirty="0"/>
          </a:p>
        </p:txBody>
      </p:sp>
      <p:sp>
        <p:nvSpPr>
          <p:cNvPr id="6" name="Shape 3"/>
          <p:cNvSpPr/>
          <p:nvPr/>
        </p:nvSpPr>
        <p:spPr>
          <a:xfrm>
            <a:off x="4663440" y="1097280"/>
            <a:ext cx="4023360" cy="457200"/>
          </a:xfrm>
          <a:prstGeom prst="rect">
            <a:avLst/>
          </a:prstGeom>
          <a:solidFill>
            <a:srgbClr val="C0392B"/>
          </a:solidFill>
          <a:ln w="12700">
            <a:solidFill>
              <a:srgbClr val="C0392B"/>
            </a:solidFill>
            <a:prstDash val="solid"/>
          </a:ln>
        </p:spPr>
      </p:sp>
      <p:sp>
        <p:nvSpPr>
          <p:cNvPr id="7" name="Text 4"/>
          <p:cNvSpPr txBox="1"/>
          <p:nvPr/>
        </p:nvSpPr>
        <p:spPr>
          <a:xfrm>
            <a:off x="4663440" y="1097280"/>
            <a:ext cx="4023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Current blockers</a:t>
            </a:r>
            <a:endParaRPr lang="en-US" sz="1600" dirty="0"/>
          </a:p>
        </p:txBody>
      </p:sp>
      <p:sp>
        <p:nvSpPr>
          <p:cNvPr id="8" name="Text 5"/>
          <p:cNvSpPr txBox="1"/>
          <p:nvPr/>
        </p:nvSpPr>
        <p:spPr>
          <a:xfrm>
            <a:off x="548640" y="1737360"/>
            <a:ext cx="384048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Compute: NB 0.17 s vs 1.30 s estimated; k-NN 27 s; LR 21 to 36 s. Grid still about 15 to 20 min.</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LR and k-NN pulled forward from M5.</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New code in standalone scripts; move into src/ in M5.</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No change to question, metric, split or model set.</a:t>
            </a:r>
            <a:endParaRPr lang="en-US" sz="1400" dirty="0"/>
          </a:p>
        </p:txBody>
      </p:sp>
      <p:sp>
        <p:nvSpPr>
          <p:cNvPr id="9" name="Text 6"/>
          <p:cNvSpPr txBox="1"/>
          <p:nvPr/>
        </p:nvSpPr>
        <p:spPr>
          <a:xfrm>
            <a:off x="4754880" y="1737360"/>
            <a:ext cx="3840480"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High: rare-class recall (Debt/credit mgmt 0.09, Payday 0.40).</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Medium: tuned on validation, so scores are slightly optimistic until the one test pass.</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Medium: near-copies (22.9% of validation) and template collapsing.</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Low: k-NN prediction cost.</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Revised Timeline and Next Steps</a:t>
            </a:r>
            <a:endParaRPr lang="en-US" sz="3000" dirty="0"/>
          </a:p>
        </p:txBody>
      </p:sp>
      <p:sp>
        <p:nvSpPr>
          <p:cNvPr id="4" name="Shape 1"/>
          <p:cNvSpPr/>
          <p:nvPr/>
        </p:nvSpPr>
        <p:spPr>
          <a:xfrm>
            <a:off x="731520" y="1828800"/>
            <a:ext cx="7680960" cy="0"/>
          </a:xfrm>
          <a:prstGeom prst="line">
            <a:avLst/>
          </a:prstGeom>
          <a:noFill/>
          <a:ln w="25400">
            <a:solidFill>
              <a:srgbClr val="9AA9BA"/>
            </a:solidFill>
            <a:prstDash val="solid"/>
          </a:ln>
        </p:spPr>
      </p:sp>
      <p:sp>
        <p:nvSpPr>
          <p:cNvPr id="5" name="Shape 2"/>
          <p:cNvSpPr/>
          <p:nvPr/>
        </p:nvSpPr>
        <p:spPr>
          <a:xfrm>
            <a:off x="603504" y="1700784"/>
            <a:ext cx="256032" cy="256032"/>
          </a:xfrm>
          <a:prstGeom prst="ellipse">
            <a:avLst/>
          </a:prstGeom>
          <a:solidFill>
            <a:srgbClr val="C0392B"/>
          </a:solidFill>
          <a:ln w="19050">
            <a:solidFill>
              <a:srgbClr val="FFFFFF"/>
            </a:solidFill>
            <a:prstDash val="solid"/>
          </a:ln>
        </p:spPr>
      </p:sp>
      <p:sp>
        <p:nvSpPr>
          <p:cNvPr id="6" name="Text 3"/>
          <p:cNvSpPr txBox="1"/>
          <p:nvPr/>
        </p:nvSpPr>
        <p:spPr>
          <a:xfrm>
            <a:off x="45720" y="1188720"/>
            <a:ext cx="1371600" cy="365760"/>
          </a:xfrm>
          <a:prstGeom prst="rect">
            <a:avLst/>
          </a:prstGeom>
          <a:noFill/>
          <a:ln/>
        </p:spPr>
        <p:txBody>
          <a:bodyPr wrap="square" lIns="0" tIns="0" rIns="0" bIns="0" rtlCol="0" anchor="ctr"/>
          <a:lstStyle/>
          <a:p>
            <a:pPr algn="ctr" indent="0" marL="0">
              <a:buNone/>
            </a:pPr>
            <a:r>
              <a:rPr lang="en-US" sz="1400" b="1" dirty="0">
                <a:solidFill>
                  <a:srgbClr val="C0392B"/>
                </a:solidFill>
                <a:latin typeface="Arial" pitchFamily="34" charset="0"/>
                <a:ea typeface="Arial" pitchFamily="34" charset="-122"/>
                <a:cs typeface="Arial" pitchFamily="34" charset="-120"/>
              </a:rPr>
              <a:t>Oct 30</a:t>
            </a:r>
            <a:endParaRPr lang="en-US" sz="1400" dirty="0"/>
          </a:p>
        </p:txBody>
      </p:sp>
      <p:sp>
        <p:nvSpPr>
          <p:cNvPr id="7" name="Text 4"/>
          <p:cNvSpPr txBox="1"/>
          <p:nvPr/>
        </p:nvSpPr>
        <p:spPr>
          <a:xfrm>
            <a:off x="45720" y="2103120"/>
            <a:ext cx="1371600" cy="77724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M4 progress</a:t>
            </a:r>
            <a:endParaRPr lang="en-US" sz="1200" dirty="0"/>
          </a:p>
        </p:txBody>
      </p:sp>
      <p:sp>
        <p:nvSpPr>
          <p:cNvPr id="8" name="Shape 5"/>
          <p:cNvSpPr/>
          <p:nvPr/>
        </p:nvSpPr>
        <p:spPr>
          <a:xfrm>
            <a:off x="2139696" y="1700784"/>
            <a:ext cx="256032" cy="256032"/>
          </a:xfrm>
          <a:prstGeom prst="ellipse">
            <a:avLst/>
          </a:prstGeom>
          <a:solidFill>
            <a:srgbClr val="1F3A5F"/>
          </a:solidFill>
          <a:ln w="19050">
            <a:solidFill>
              <a:srgbClr val="FFFFFF"/>
            </a:solidFill>
            <a:prstDash val="solid"/>
          </a:ln>
        </p:spPr>
      </p:sp>
      <p:sp>
        <p:nvSpPr>
          <p:cNvPr id="9" name="Text 6"/>
          <p:cNvSpPr txBox="1"/>
          <p:nvPr/>
        </p:nvSpPr>
        <p:spPr>
          <a:xfrm>
            <a:off x="1581912" y="1188720"/>
            <a:ext cx="1371600" cy="365760"/>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Nov 6</a:t>
            </a:r>
            <a:endParaRPr lang="en-US" sz="1400" dirty="0"/>
          </a:p>
        </p:txBody>
      </p:sp>
      <p:sp>
        <p:nvSpPr>
          <p:cNvPr id="10" name="Text 7"/>
          <p:cNvSpPr txBox="1"/>
          <p:nvPr/>
        </p:nvSpPr>
        <p:spPr>
          <a:xfrm>
            <a:off x="1581912" y="2103120"/>
            <a:ext cx="1371600" cy="77724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Ablation runner in src/</a:t>
            </a:r>
            <a:endParaRPr lang="en-US" sz="1200" dirty="0"/>
          </a:p>
        </p:txBody>
      </p:sp>
      <p:sp>
        <p:nvSpPr>
          <p:cNvPr id="11" name="Shape 8"/>
          <p:cNvSpPr/>
          <p:nvPr/>
        </p:nvSpPr>
        <p:spPr>
          <a:xfrm>
            <a:off x="3675888" y="1700784"/>
            <a:ext cx="256032" cy="256032"/>
          </a:xfrm>
          <a:prstGeom prst="ellipse">
            <a:avLst/>
          </a:prstGeom>
          <a:solidFill>
            <a:srgbClr val="1F3A5F"/>
          </a:solidFill>
          <a:ln w="19050">
            <a:solidFill>
              <a:srgbClr val="FFFFFF"/>
            </a:solidFill>
            <a:prstDash val="solid"/>
          </a:ln>
        </p:spPr>
      </p:sp>
      <p:sp>
        <p:nvSpPr>
          <p:cNvPr id="12" name="Text 9"/>
          <p:cNvSpPr txBox="1"/>
          <p:nvPr/>
        </p:nvSpPr>
        <p:spPr>
          <a:xfrm>
            <a:off x="3118104" y="1188720"/>
            <a:ext cx="1371600" cy="365760"/>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Nov 13</a:t>
            </a:r>
            <a:endParaRPr lang="en-US" sz="1400" dirty="0"/>
          </a:p>
        </p:txBody>
      </p:sp>
      <p:sp>
        <p:nvSpPr>
          <p:cNvPr id="13" name="Text 10"/>
          <p:cNvSpPr txBox="1"/>
          <p:nvPr/>
        </p:nvSpPr>
        <p:spPr>
          <a:xfrm>
            <a:off x="3118104" y="2103120"/>
            <a:ext cx="1371600" cy="77724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12-setting ablation, rare-class study</a:t>
            </a:r>
            <a:endParaRPr lang="en-US" sz="1200" dirty="0"/>
          </a:p>
        </p:txBody>
      </p:sp>
      <p:sp>
        <p:nvSpPr>
          <p:cNvPr id="14" name="Shape 11"/>
          <p:cNvSpPr/>
          <p:nvPr/>
        </p:nvSpPr>
        <p:spPr>
          <a:xfrm>
            <a:off x="5212080" y="1700784"/>
            <a:ext cx="256032" cy="256032"/>
          </a:xfrm>
          <a:prstGeom prst="ellipse">
            <a:avLst/>
          </a:prstGeom>
          <a:solidFill>
            <a:srgbClr val="1F3A5F"/>
          </a:solidFill>
          <a:ln w="19050">
            <a:solidFill>
              <a:srgbClr val="FFFFFF"/>
            </a:solidFill>
            <a:prstDash val="solid"/>
          </a:ln>
        </p:spPr>
      </p:sp>
      <p:sp>
        <p:nvSpPr>
          <p:cNvPr id="15" name="Text 12"/>
          <p:cNvSpPr txBox="1"/>
          <p:nvPr/>
        </p:nvSpPr>
        <p:spPr>
          <a:xfrm>
            <a:off x="4654296" y="1188720"/>
            <a:ext cx="1371600" cy="365760"/>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Nov 20</a:t>
            </a:r>
            <a:endParaRPr lang="en-US" sz="1400" dirty="0"/>
          </a:p>
        </p:txBody>
      </p:sp>
      <p:sp>
        <p:nvSpPr>
          <p:cNvPr id="16" name="Text 13"/>
          <p:cNvSpPr txBox="1"/>
          <p:nvPr/>
        </p:nvSpPr>
        <p:spPr>
          <a:xfrm>
            <a:off x="4654296" y="2103120"/>
            <a:ext cx="1371600" cy="77724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M5: one test pass, robustness, results package</a:t>
            </a:r>
            <a:endParaRPr lang="en-US" sz="1200" dirty="0"/>
          </a:p>
        </p:txBody>
      </p:sp>
      <p:sp>
        <p:nvSpPr>
          <p:cNvPr id="17" name="Shape 14"/>
          <p:cNvSpPr/>
          <p:nvPr/>
        </p:nvSpPr>
        <p:spPr>
          <a:xfrm>
            <a:off x="6748272" y="1700784"/>
            <a:ext cx="256032" cy="256032"/>
          </a:xfrm>
          <a:prstGeom prst="ellipse">
            <a:avLst/>
          </a:prstGeom>
          <a:solidFill>
            <a:srgbClr val="1F3A5F"/>
          </a:solidFill>
          <a:ln w="19050">
            <a:solidFill>
              <a:srgbClr val="FFFFFF"/>
            </a:solidFill>
            <a:prstDash val="solid"/>
          </a:ln>
        </p:spPr>
      </p:sp>
      <p:sp>
        <p:nvSpPr>
          <p:cNvPr id="18" name="Text 15"/>
          <p:cNvSpPr txBox="1"/>
          <p:nvPr/>
        </p:nvSpPr>
        <p:spPr>
          <a:xfrm>
            <a:off x="6190488" y="1188720"/>
            <a:ext cx="1371600" cy="365760"/>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Dec 4</a:t>
            </a:r>
            <a:endParaRPr lang="en-US" sz="1400" dirty="0"/>
          </a:p>
        </p:txBody>
      </p:sp>
      <p:sp>
        <p:nvSpPr>
          <p:cNvPr id="19" name="Text 16"/>
          <p:cNvSpPr txBox="1"/>
          <p:nvPr/>
        </p:nvSpPr>
        <p:spPr>
          <a:xfrm>
            <a:off x="6190488" y="2103120"/>
            <a:ext cx="1371600" cy="77724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M6: report + 8-10 min talk</a:t>
            </a:r>
            <a:endParaRPr lang="en-US" sz="1200" dirty="0"/>
          </a:p>
        </p:txBody>
      </p:sp>
      <p:sp>
        <p:nvSpPr>
          <p:cNvPr id="20" name="Shape 17"/>
          <p:cNvSpPr/>
          <p:nvPr/>
        </p:nvSpPr>
        <p:spPr>
          <a:xfrm>
            <a:off x="8284464" y="1700784"/>
            <a:ext cx="256032" cy="256032"/>
          </a:xfrm>
          <a:prstGeom prst="ellipse">
            <a:avLst/>
          </a:prstGeom>
          <a:solidFill>
            <a:srgbClr val="1F3A5F"/>
          </a:solidFill>
          <a:ln w="19050">
            <a:solidFill>
              <a:srgbClr val="FFFFFF"/>
            </a:solidFill>
            <a:prstDash val="solid"/>
          </a:ln>
        </p:spPr>
      </p:sp>
      <p:sp>
        <p:nvSpPr>
          <p:cNvPr id="21" name="Text 18"/>
          <p:cNvSpPr txBox="1"/>
          <p:nvPr/>
        </p:nvSpPr>
        <p:spPr>
          <a:xfrm>
            <a:off x="7726680" y="1188720"/>
            <a:ext cx="1371600" cy="365760"/>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Dec 7</a:t>
            </a:r>
            <a:endParaRPr lang="en-US" sz="1400" dirty="0"/>
          </a:p>
        </p:txBody>
      </p:sp>
      <p:sp>
        <p:nvSpPr>
          <p:cNvPr id="22" name="Text 19"/>
          <p:cNvSpPr txBox="1"/>
          <p:nvPr/>
        </p:nvSpPr>
        <p:spPr>
          <a:xfrm>
            <a:off x="7726680" y="2103120"/>
            <a:ext cx="1371600" cy="777240"/>
          </a:xfrm>
          <a:prstGeom prst="rect">
            <a:avLst/>
          </a:prstGeom>
          <a:noFill/>
          <a:ln/>
        </p:spPr>
        <p:txBody>
          <a:bodyPr wrap="square" lIns="0" tIns="0" rIns="0" bIns="0" rtlCol="0" anchor="t"/>
          <a:lstStyle/>
          <a:p>
            <a:pPr algn="ctr" indent="0" marL="0">
              <a:buNone/>
            </a:pPr>
            <a:r>
              <a:rPr lang="en-US" sz="1200" dirty="0">
                <a:solidFill>
                  <a:srgbClr val="595959"/>
                </a:solidFill>
                <a:latin typeface="Arial" pitchFamily="34" charset="0"/>
                <a:ea typeface="Arial" pitchFamily="34" charset="-122"/>
                <a:cs typeface="Arial" pitchFamily="34" charset="-120"/>
              </a:rPr>
              <a:t>M7: individual defence</a:t>
            </a:r>
            <a:endParaRPr lang="en-US" sz="1200" dirty="0"/>
          </a:p>
        </p:txBody>
      </p:sp>
      <p:sp>
        <p:nvSpPr>
          <p:cNvPr id="23" name="Text 20"/>
          <p:cNvSpPr txBox="1"/>
          <p:nvPr/>
        </p:nvSpPr>
        <p:spPr>
          <a:xfrm>
            <a:off x="640080" y="3063240"/>
            <a:ext cx="786384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Highest: LR and k-NN into src/ plus config-driven ablation runner (Alex, Sayon).</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Second: rare-class study, group-weighted and near-copy scores (Subangan).</a:t>
            </a:r>
            <a:endParaRPr lang="en-US" sz="1400" dirty="0"/>
          </a:p>
          <a:p>
            <a:pPr marL="342900" indent="-342900">
              <a:spcAft>
                <a:spcPts val="800"/>
              </a:spcAft>
              <a:buSzPct val="100000"/>
              <a:buChar char="•"/>
            </a:pPr>
            <a:r>
              <a:rPr lang="en-US" sz="1400" dirty="0">
                <a:solidFill>
                  <a:srgbClr val="595959"/>
                </a:solidFill>
                <a:latin typeface="Arial" pitchFamily="34" charset="0"/>
                <a:ea typeface="Arial" pitchFamily="34" charset="-122"/>
                <a:cs typeface="Arial" pitchFamily="34" charset="-120"/>
              </a:rPr>
              <a:t>Third: reproducibility check for LR/k-NN, empty-vector guard, tags, one test pass (Sayon, Kevin).</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Feedback and Peer Check-In</a:t>
            </a:r>
            <a:endParaRPr lang="en-US" sz="3000" dirty="0"/>
          </a:p>
        </p:txBody>
      </p:sp>
      <p:sp>
        <p:nvSpPr>
          <p:cNvPr id="4" name="Shape 1"/>
          <p:cNvSpPr/>
          <p:nvPr/>
        </p:nvSpPr>
        <p:spPr>
          <a:xfrm>
            <a:off x="457200" y="1097280"/>
            <a:ext cx="4023360" cy="3291840"/>
          </a:xfrm>
          <a:prstGeom prst="rect">
            <a:avLst/>
          </a:prstGeom>
          <a:solidFill>
            <a:srgbClr val="EEF3F8"/>
          </a:solidFill>
          <a:ln w="12700">
            <a:solidFill>
              <a:srgbClr val="EEF3F8"/>
            </a:solidFill>
            <a:prstDash val="solid"/>
          </a:ln>
        </p:spPr>
      </p:sp>
      <p:sp>
        <p:nvSpPr>
          <p:cNvPr id="5" name="Text 2"/>
          <p:cNvSpPr txBox="1"/>
          <p:nvPr/>
        </p:nvSpPr>
        <p:spPr>
          <a:xfrm>
            <a:off x="594360" y="1188720"/>
            <a:ext cx="3749040" cy="365760"/>
          </a:xfrm>
          <a:prstGeom prst="rect">
            <a:avLst/>
          </a:prstGeom>
          <a:noFill/>
          <a:ln/>
        </p:spPr>
        <p:txBody>
          <a:bodyPr wrap="square" lIns="0" tIns="0" rIns="0" bIns="0" rtlCol="0" anchor="ctr"/>
          <a:lstStyle/>
          <a:p>
            <a:pPr indent="0" marL="0">
              <a:buNone/>
            </a:pPr>
            <a:r>
              <a:rPr lang="en-US" sz="1600" b="1" dirty="0">
                <a:solidFill>
                  <a:srgbClr val="1F3A5F"/>
                </a:solidFill>
                <a:latin typeface="Arial" pitchFamily="34" charset="0"/>
                <a:ea typeface="Arial" pitchFamily="34" charset="-122"/>
                <a:cs typeface="Arial" pitchFamily="34" charset="-120"/>
              </a:rPr>
              <a:t>Acted on from M3</a:t>
            </a:r>
            <a:endParaRPr lang="en-US" sz="1600" dirty="0"/>
          </a:p>
        </p:txBody>
      </p:sp>
      <p:sp>
        <p:nvSpPr>
          <p:cNvPr id="6" name="Text 3"/>
          <p:cNvSpPr txBox="1"/>
          <p:nvPr/>
        </p:nvSpPr>
        <p:spPr>
          <a:xfrm>
            <a:off x="594360" y="1600200"/>
            <a:ext cx="374904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95959"/>
                </a:solidFill>
                <a:latin typeface="Arial" pitchFamily="34" charset="0"/>
                <a:ea typeface="Arial" pitchFamily="34" charset="-122"/>
                <a:cs typeface="Arial" pitchFamily="34" charset="-120"/>
              </a:rPr>
              <a:t>LR and k-NN run through the same pipeline and table.</a:t>
            </a:r>
            <a:endParaRPr lang="en-US" sz="1300" dirty="0"/>
          </a:p>
          <a:p>
            <a:pPr marL="342900" indent="-342900">
              <a:spcAft>
                <a:spcPts val="800"/>
              </a:spcAft>
              <a:buSzPct val="100000"/>
              <a:buChar char="•"/>
            </a:pPr>
            <a:r>
              <a:rPr lang="en-US" sz="1300" dirty="0">
                <a:solidFill>
                  <a:srgbClr val="595959"/>
                </a:solidFill>
                <a:latin typeface="Arial" pitchFamily="34" charset="0"/>
                <a:ea typeface="Arial" pitchFamily="34" charset="-122"/>
                <a:cs typeface="Arial" pitchFamily="34" charset="-120"/>
              </a:rPr>
              <a:t>Validation score no longer treated as final; bootstrap CIs added.</a:t>
            </a:r>
            <a:endParaRPr lang="en-US" sz="1300" dirty="0"/>
          </a:p>
          <a:p>
            <a:pPr marL="342900" indent="-342900">
              <a:spcAft>
                <a:spcPts val="800"/>
              </a:spcAft>
              <a:buSzPct val="100000"/>
              <a:buChar char="•"/>
            </a:pPr>
            <a:r>
              <a:rPr lang="en-US" sz="1300" dirty="0">
                <a:solidFill>
                  <a:srgbClr val="595959"/>
                </a:solidFill>
                <a:latin typeface="Arial" pitchFamily="34" charset="0"/>
                <a:ea typeface="Arial" pitchFamily="34" charset="-122"/>
                <a:cs typeface="Arial" pitchFamily="34" charset="-120"/>
              </a:rPr>
              <a:t>fit_prior=False tested: recall up, Macro F1 down (0.623 → 0.604), not adopted.</a:t>
            </a:r>
            <a:endParaRPr lang="en-US" sz="1300" dirty="0"/>
          </a:p>
          <a:p>
            <a:pPr marL="342900" indent="-342900">
              <a:spcAft>
                <a:spcPts val="800"/>
              </a:spcAft>
              <a:buSzPct val="100000"/>
              <a:buChar char="•"/>
            </a:pPr>
            <a:r>
              <a:rPr lang="en-US" sz="1300" dirty="0">
                <a:solidFill>
                  <a:srgbClr val="595959"/>
                </a:solidFill>
                <a:latin typeface="Arial" pitchFamily="34" charset="0"/>
                <a:ea typeface="Arial" pitchFamily="34" charset="-122"/>
                <a:cs typeface="Arial" pitchFamily="34" charset="-120"/>
              </a:rPr>
              <a:t>Compute re-budgeted from measured times.</a:t>
            </a:r>
            <a:endParaRPr lang="en-US" sz="1300" dirty="0"/>
          </a:p>
        </p:txBody>
      </p:sp>
      <p:sp>
        <p:nvSpPr>
          <p:cNvPr id="7" name="Shape 4"/>
          <p:cNvSpPr/>
          <p:nvPr/>
        </p:nvSpPr>
        <p:spPr>
          <a:xfrm>
            <a:off x="4663440" y="1097280"/>
            <a:ext cx="4023360" cy="3291840"/>
          </a:xfrm>
          <a:prstGeom prst="rect">
            <a:avLst/>
          </a:prstGeom>
          <a:solidFill>
            <a:srgbClr val="EEF3F8"/>
          </a:solidFill>
          <a:ln w="12700">
            <a:solidFill>
              <a:srgbClr val="EEF3F8"/>
            </a:solidFill>
            <a:prstDash val="solid"/>
          </a:ln>
        </p:spPr>
      </p:sp>
      <p:sp>
        <p:nvSpPr>
          <p:cNvPr id="8" name="Text 5"/>
          <p:cNvSpPr txBox="1"/>
          <p:nvPr/>
        </p:nvSpPr>
        <p:spPr>
          <a:xfrm>
            <a:off x="4800600" y="1188720"/>
            <a:ext cx="3749040" cy="365760"/>
          </a:xfrm>
          <a:prstGeom prst="rect">
            <a:avLst/>
          </a:prstGeom>
          <a:noFill/>
          <a:ln/>
        </p:spPr>
        <p:txBody>
          <a:bodyPr wrap="square" lIns="0" tIns="0" rIns="0" bIns="0" rtlCol="0" anchor="ctr"/>
          <a:lstStyle/>
          <a:p>
            <a:pPr indent="0" marL="0">
              <a:buNone/>
            </a:pPr>
            <a:r>
              <a:rPr lang="en-US" sz="1600" b="1" dirty="0">
                <a:solidFill>
                  <a:srgbClr val="C0392B"/>
                </a:solidFill>
                <a:latin typeface="Arial" pitchFamily="34" charset="0"/>
                <a:ea typeface="Arial" pitchFamily="34" charset="-122"/>
                <a:cs typeface="Arial" pitchFamily="34" charset="-120"/>
              </a:rPr>
              <a:t>Midpoint peer check-in</a:t>
            </a:r>
            <a:endParaRPr lang="en-US" sz="1600" dirty="0"/>
          </a:p>
        </p:txBody>
      </p:sp>
      <p:sp>
        <p:nvSpPr>
          <p:cNvPr id="9" name="Text 6"/>
          <p:cNvSpPr txBox="1"/>
          <p:nvPr/>
        </p:nvSpPr>
        <p:spPr>
          <a:xfrm>
            <a:off x="4800600" y="1600200"/>
            <a:ext cx="374904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595959"/>
                </a:solidFill>
                <a:latin typeface="Arial" pitchFamily="34" charset="0"/>
                <a:ea typeface="Arial" pitchFamily="34" charset="-122"/>
                <a:cs typeface="Arial" pitchFamily="34" charset="-120"/>
              </a:rPr>
              <a:t>Peer team: [TEAM: name, date]</a:t>
            </a:r>
            <a:endParaRPr lang="en-US" sz="1300" dirty="0"/>
          </a:p>
          <a:p>
            <a:pPr marL="342900" indent="-342900">
              <a:spcAft>
                <a:spcPts val="800"/>
              </a:spcAft>
              <a:buSzPct val="100000"/>
              <a:buChar char="•"/>
            </a:pPr>
            <a:r>
              <a:rPr lang="en-US" sz="1300" dirty="0">
                <a:solidFill>
                  <a:srgbClr val="595959"/>
                </a:solidFill>
                <a:latin typeface="Arial" pitchFamily="34" charset="0"/>
                <a:ea typeface="Arial" pitchFamily="34" charset="-122"/>
                <a:cs typeface="Arial" pitchFamily="34" charset="-120"/>
              </a:rPr>
              <a:t>Strengths noted: [TEAM]</a:t>
            </a:r>
            <a:endParaRPr lang="en-US" sz="1300" dirty="0"/>
          </a:p>
          <a:p>
            <a:pPr marL="342900" indent="-342900">
              <a:spcAft>
                <a:spcPts val="800"/>
              </a:spcAft>
              <a:buSzPct val="100000"/>
              <a:buChar char="•"/>
            </a:pPr>
            <a:r>
              <a:rPr lang="en-US" sz="1300" dirty="0">
                <a:solidFill>
                  <a:srgbClr val="595959"/>
                </a:solidFill>
                <a:latin typeface="Arial" pitchFamily="34" charset="0"/>
                <a:ea typeface="Arial" pitchFamily="34" charset="-122"/>
                <a:cs typeface="Arial" pitchFamily="34" charset="-120"/>
              </a:rPr>
              <a:t>Concerns raised: [TEAM]</a:t>
            </a:r>
            <a:endParaRPr lang="en-US" sz="1300" dirty="0"/>
          </a:p>
          <a:p>
            <a:pPr marL="342900" indent="-342900">
              <a:spcAft>
                <a:spcPts val="800"/>
              </a:spcAft>
              <a:buSzPct val="100000"/>
              <a:buChar char="•"/>
            </a:pPr>
            <a:r>
              <a:rPr lang="en-US" sz="1300" dirty="0">
                <a:solidFill>
                  <a:srgbClr val="595959"/>
                </a:solidFill>
                <a:latin typeface="Arial" pitchFamily="34" charset="0"/>
                <a:ea typeface="Arial" pitchFamily="34" charset="-122"/>
                <a:cs typeface="Arial" pitchFamily="34" charset="-120"/>
              </a:rPr>
              <a:t>Feedback we gave: [TEAM]</a:t>
            </a:r>
            <a:endParaRPr lang="en-US" sz="1300" dirty="0"/>
          </a:p>
          <a:p>
            <a:pPr marL="342900" indent="-342900">
              <a:spcAft>
                <a:spcPts val="800"/>
              </a:spcAft>
              <a:buSzPct val="100000"/>
              <a:buChar char="•"/>
            </a:pPr>
            <a:r>
              <a:rPr lang="en-US" sz="1300" dirty="0">
                <a:solidFill>
                  <a:srgbClr val="595959"/>
                </a:solidFill>
                <a:latin typeface="Arial" pitchFamily="34" charset="0"/>
                <a:ea typeface="Arial" pitchFamily="34" charset="-122"/>
                <a:cs typeface="Arial" pitchFamily="34" charset="-120"/>
              </a:rPr>
              <a:t>Changes made: [TEAM]</a:t>
            </a:r>
            <a:endParaRPr lang="en-US" sz="13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nchor="ctr"/>
          <a:lstStyle/>
          <a:p>
            <a:pPr algn="ctr" indent="0" marL="0">
              <a:buNone/>
            </a:pPr>
            <a:r>
              <a:rPr lang="en-US" sz="3000" dirty="0">
                <a:solidFill>
                  <a:srgbClr val="111111"/>
                </a:solidFill>
                <a:latin typeface="Arial" pitchFamily="34" charset="0"/>
                <a:ea typeface="Arial" pitchFamily="34" charset="-122"/>
                <a:cs typeface="Arial" pitchFamily="34" charset="-120"/>
              </a:rPr>
              <a:t>Conclusion</a:t>
            </a:r>
            <a:endParaRPr lang="en-US" sz="3000" dirty="0"/>
          </a:p>
        </p:txBody>
      </p:sp>
      <p:sp>
        <p:nvSpPr>
          <p:cNvPr id="4" name="Text 1"/>
          <p:cNvSpPr txBox="1"/>
          <p:nvPr/>
        </p:nvSpPr>
        <p:spPr>
          <a:xfrm>
            <a:off x="640080" y="1188720"/>
            <a:ext cx="7863840" cy="329184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595959"/>
                </a:solidFill>
                <a:latin typeface="Arial" pitchFamily="34" charset="0"/>
                <a:ea typeface="Arial" pitchFamily="34" charset="-122"/>
                <a:cs typeface="Arial" pitchFamily="34" charset="-120"/>
              </a:rPr>
              <a:t>Logistic regression is the best model so far: Macro F1 0.682 vs 0.623 for the Naive Bayes baseline (+0.058, 95% CI +0.044 to +0.072).</a:t>
            </a:r>
            <a:endParaRPr lang="en-US" sz="1800" dirty="0"/>
          </a:p>
          <a:p>
            <a:pPr marL="342900" indent="-342900">
              <a:spcAft>
                <a:spcPts val="800"/>
              </a:spcAft>
              <a:buSzPct val="100000"/>
              <a:buChar char="•"/>
            </a:pPr>
            <a:r>
              <a:rPr lang="en-US" sz="1800" dirty="0">
                <a:solidFill>
                  <a:srgbClr val="595959"/>
                </a:solidFill>
                <a:latin typeface="Arial" pitchFamily="34" charset="0"/>
                <a:ea typeface="Arial" pitchFamily="34" charset="-122"/>
                <a:cs typeface="Arial" pitchFamily="34" charset="-120"/>
              </a:rPr>
              <a:t>Cosine k-NN only ties Naive Bayes (0.622) and predicts over 1,000 times slower; Euclidean k-NN needs an empty-vector guard.</a:t>
            </a:r>
            <a:endParaRPr lang="en-US" sz="1800" dirty="0"/>
          </a:p>
          <a:p>
            <a:pPr marL="342900" indent="-342900">
              <a:spcAft>
                <a:spcPts val="800"/>
              </a:spcAft>
              <a:buSzPct val="100000"/>
              <a:buChar char="•"/>
            </a:pPr>
            <a:r>
              <a:rPr lang="en-US" sz="1800" dirty="0">
                <a:solidFill>
                  <a:srgbClr val="595959"/>
                </a:solidFill>
                <a:latin typeface="Arial" pitchFamily="34" charset="0"/>
                <a:ea typeface="Arial" pitchFamily="34" charset="-122"/>
                <a:cs typeface="Arial" pitchFamily="34" charset="-120"/>
              </a:rPr>
              <a:t>Rare products are the main risk (Debt/credit mgmt recall 0.09); the M5 ablation and error study target them.</a:t>
            </a:r>
            <a:endParaRPr lang="en-US" sz="1800" dirty="0"/>
          </a:p>
          <a:p>
            <a:pPr marL="342900" indent="-342900">
              <a:spcAft>
                <a:spcPts val="800"/>
              </a:spcAft>
              <a:buSzPct val="100000"/>
              <a:buChar char="•"/>
            </a:pPr>
            <a:r>
              <a:rPr lang="en-US" sz="1800" dirty="0">
                <a:solidFill>
                  <a:srgbClr val="595959"/>
                </a:solidFill>
                <a:latin typeface="Arial" pitchFamily="34" charset="0"/>
                <a:ea typeface="Arial" pitchFamily="34" charset="-122"/>
                <a:cs typeface="Arial" pitchFamily="34" charset="-120"/>
              </a:rPr>
              <a:t>Reproducible, test split sealed, compute well within budget: on track for Nov 20.</a:t>
            </a:r>
            <a:endParaRPr lang="en-US" sz="18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9BA"/>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Milestone 4 Progress Presentation</dc:title>
  <dc:subject>PptxGenJS Presentation</dc:subject>
  <dc:creator>Team 32 (KASS Tech)</dc:creator>
  <cp:lastModifiedBy>Team 32 (KASS Tech)</cp:lastModifiedBy>
  <cp:revision>1</cp:revision>
  <dcterms:created xsi:type="dcterms:W3CDTF">2026-10-30T03:33:50Z</dcterms:created>
  <dcterms:modified xsi:type="dcterms:W3CDTF">2026-10-30T03:33:50Z</dcterms:modified>
</cp:coreProperties>
</file>